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763" r:id="rId5"/>
    <p:sldMasterId id="2147483775" r:id="rId6"/>
  </p:sldMasterIdLst>
  <p:notesMasterIdLst>
    <p:notesMasterId r:id="rId22"/>
  </p:notesMasterIdLst>
  <p:handoutMasterIdLst>
    <p:handoutMasterId r:id="rId23"/>
  </p:handoutMasterIdLst>
  <p:sldIdLst>
    <p:sldId id="919" r:id="rId7"/>
    <p:sldId id="13308" r:id="rId8"/>
    <p:sldId id="13307" r:id="rId9"/>
    <p:sldId id="13302" r:id="rId10"/>
    <p:sldId id="13286" r:id="rId11"/>
    <p:sldId id="13309" r:id="rId12"/>
    <p:sldId id="13310" r:id="rId13"/>
    <p:sldId id="13311" r:id="rId14"/>
    <p:sldId id="13312" r:id="rId15"/>
    <p:sldId id="13313" r:id="rId16"/>
    <p:sldId id="13314" r:id="rId17"/>
    <p:sldId id="13315" r:id="rId18"/>
    <p:sldId id="13316" r:id="rId19"/>
    <p:sldId id="13317" r:id="rId20"/>
    <p:sldId id="13318" r:id="rId21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son Caballero" initials="D" lastIdx="4" clrIdx="0">
    <p:extLst>
      <p:ext uri="{19B8F6BF-5375-455C-9EA6-DF929625EA0E}">
        <p15:presenceInfo xmlns:p15="http://schemas.microsoft.com/office/powerpoint/2012/main" userId="Daison Caballe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A32D"/>
    <a:srgbClr val="000000"/>
    <a:srgbClr val="373838"/>
    <a:srgbClr val="98C93D"/>
    <a:srgbClr val="F3FAFF"/>
    <a:srgbClr val="C6E898"/>
    <a:srgbClr val="93C33B"/>
    <a:srgbClr val="648825"/>
    <a:srgbClr val="648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79298" autoAdjust="0"/>
  </p:normalViewPr>
  <p:slideViewPr>
    <p:cSldViewPr snapToGrid="0">
      <p:cViewPr varScale="1">
        <p:scale>
          <a:sx n="88" d="100"/>
          <a:sy n="88" d="100"/>
        </p:scale>
        <p:origin x="160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920"/>
    </p:cViewPr>
  </p:sorterViewPr>
  <p:notesViewPr>
    <p:cSldViewPr snapToGrid="0">
      <p:cViewPr varScale="1">
        <p:scale>
          <a:sx n="119" d="100"/>
          <a:sy n="119" d="100"/>
        </p:scale>
        <p:origin x="4122" y="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54CA9B8-74BC-42CC-8AD2-E73F5E847AA6}" type="datetimeFigureOut">
              <a:rPr lang="en-US" smtClean="0"/>
              <a:pPr/>
              <a:t>02/13/26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B533F5EF-7B2D-436D-B831-F48ECB832F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97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10CAAA1-2DC6-469D-86AF-311C333CDD14}" type="datetimeFigureOut">
              <a:rPr lang="en-US" smtClean="0"/>
              <a:pPr/>
              <a:t>02/13/26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6600" y="1154113"/>
            <a:ext cx="5538788" cy="3116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73798CC5-B40D-4675-A662-FAA7C61DAE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7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33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(1) Almousa, M.; Lim, Y. H.; </a:t>
            </a:r>
            <a:r>
              <a:rPr lang="en-US" b="0" dirty="0" err="1"/>
              <a:t>AlMubaidin</a:t>
            </a:r>
            <a:r>
              <a:rPr lang="en-US" b="0" dirty="0"/>
              <a:t>, M.; Alshami, A.; Al-</a:t>
            </a:r>
            <a:r>
              <a:rPr lang="en-US" b="0" dirty="0" err="1"/>
              <a:t>Tayyem</a:t>
            </a:r>
            <a:r>
              <a:rPr lang="en-US" b="0" dirty="0"/>
              <a:t>, B. H.; </a:t>
            </a:r>
            <a:r>
              <a:rPr lang="en-US" b="0" dirty="0" err="1"/>
              <a:t>Tomomewo</a:t>
            </a:r>
            <a:r>
              <a:rPr lang="en-US" b="0" dirty="0"/>
              <a:t>, O.; Khalifa, H. Comparative Feasibility of Lithium Extraction Technologies in U.S. Oilfields. </a:t>
            </a:r>
            <a:r>
              <a:rPr lang="en-US" b="0" i="1" dirty="0" err="1"/>
              <a:t>Desalin</a:t>
            </a:r>
            <a:r>
              <a:rPr lang="en-US" b="0" i="1" dirty="0"/>
              <a:t>. Water Treat.</a:t>
            </a:r>
            <a:r>
              <a:rPr lang="en-US" b="0" dirty="0"/>
              <a:t> 2025, </a:t>
            </a:r>
            <a:r>
              <a:rPr lang="en-US" b="0" i="1" dirty="0"/>
              <a:t>322</a:t>
            </a:r>
            <a:r>
              <a:rPr lang="en-US" b="0" dirty="0"/>
              <a:t>, 101128. https://doi.org/10.1016/J.DWT.2025.101128.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9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41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(23) Kanagasundaram, T.; Murphy, O.; Haji, M. N.; Wilson, J. J. The Recovery and Separation of Lithium by Using Solvent Extraction Methods. </a:t>
            </a:r>
            <a:r>
              <a:rPr lang="en-US" sz="1200" b="0" i="1" dirty="0"/>
              <a:t>Coord. Chem. Rev.</a:t>
            </a:r>
            <a:r>
              <a:rPr lang="en-US" sz="1200" b="0" dirty="0"/>
              <a:t> 2024, </a:t>
            </a:r>
            <a:r>
              <a:rPr lang="en-US" sz="1200" b="0" i="1" dirty="0"/>
              <a:t>509</a:t>
            </a:r>
            <a:r>
              <a:rPr lang="en-US" sz="1200" b="0" dirty="0"/>
              <a:t> (December 2023), 215727. https://doi.org/10.1016/j.ccr.2024.215727.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36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(1) Yu, G.; Li, Y.; Zhang, X.; </a:t>
            </a:r>
            <a:r>
              <a:rPr lang="en-US" dirty="0" err="1">
                <a:effectLst/>
              </a:rPr>
              <a:t>Jovein</a:t>
            </a:r>
            <a:r>
              <a:rPr lang="en-US" dirty="0">
                <a:effectLst/>
              </a:rPr>
              <a:t>, I. B.; Figiel, P.; Chen, B.; Ji, Y.; Sadowski, G.; Held, C. Lithium Extraction from Salt-Lake Brines Using </a:t>
            </a:r>
            <a:r>
              <a:rPr lang="en-US" dirty="0" err="1">
                <a:effectLst/>
              </a:rPr>
              <a:t>Dicationic</a:t>
            </a:r>
            <a:r>
              <a:rPr lang="en-US" dirty="0">
                <a:effectLst/>
              </a:rPr>
              <a:t> Ionic Liquids: EPC-SAFT Modeling and Molecular Mechanisms. </a:t>
            </a:r>
            <a:r>
              <a:rPr lang="en-US" i="1" dirty="0">
                <a:effectLst/>
              </a:rPr>
              <a:t>AIChE J.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2025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71</a:t>
            </a:r>
            <a:r>
              <a:rPr lang="en-US" dirty="0">
                <a:effectLst/>
              </a:rPr>
              <a:t> (April), e18907. https://doi.org/10.1002/AIC.18907.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9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emf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228500" y="613326"/>
            <a:ext cx="11735000" cy="2387600"/>
          </a:xfrm>
        </p:spPr>
        <p:txBody>
          <a:bodyPr anchor="b"/>
          <a:lstStyle>
            <a:lvl1pPr algn="ctr">
              <a:defRPr sz="6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Cover Long Title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500" y="3093001"/>
            <a:ext cx="117350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373838"/>
                </a:solidFill>
                <a:latin typeface="+mn-lt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Cover Subtitle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04" y="4964825"/>
            <a:ext cx="2307273" cy="917977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 flipH="1">
            <a:off x="53265" y="-9526"/>
            <a:ext cx="70560" cy="6858001"/>
          </a:xfrm>
          <a:prstGeom prst="rect">
            <a:avLst/>
          </a:prstGeom>
          <a:gradFill flip="none" rotWithShape="1">
            <a:gsLst>
              <a:gs pos="0">
                <a:srgbClr val="98C93D"/>
              </a:gs>
              <a:gs pos="100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A3F6500A-D256-4B4C-8DCE-2A96969C0C1A}"/>
              </a:ext>
            </a:extLst>
          </p:cNvPr>
          <p:cNvSpPr txBox="1">
            <a:spLocks/>
          </p:cNvSpPr>
          <p:nvPr userDrawn="1"/>
        </p:nvSpPr>
        <p:spPr>
          <a:xfrm>
            <a:off x="1551286" y="6515822"/>
            <a:ext cx="3052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+mn-lt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420016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5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087763"/>
            <a:ext cx="11580921" cy="4933476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32633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288240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270628" y="778081"/>
            <a:ext cx="11580921" cy="373510"/>
          </a:xfr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rgbClr val="373838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Page Subtitle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4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449238"/>
            <a:ext cx="11580921" cy="4572002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B77CE695-0A2F-C942-9F1A-B6FA9F084CA0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88377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New_DOE_Logo_Color_Hi-Res_04280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7254" y="6026445"/>
            <a:ext cx="2528710" cy="635714"/>
          </a:xfrm>
          <a:prstGeom prst="rect">
            <a:avLst/>
          </a:prstGeom>
        </p:spPr>
      </p:pic>
      <p:pic>
        <p:nvPicPr>
          <p:cNvPr id="13" name="Picture 19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5369" y="6041893"/>
            <a:ext cx="1017884" cy="57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West_Virginia_University_logo_svg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01318" y="6221732"/>
            <a:ext cx="1864013" cy="241391"/>
          </a:xfrm>
          <a:prstGeom prst="rect">
            <a:avLst/>
          </a:prstGeom>
        </p:spPr>
      </p:pic>
      <p:pic>
        <p:nvPicPr>
          <p:cNvPr id="15" name="Picture 14" descr="CMU logo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50431" y="6205830"/>
            <a:ext cx="1532631" cy="2923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074" y="6049212"/>
            <a:ext cx="1447109" cy="5579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95" y="6065746"/>
            <a:ext cx="1439091" cy="5725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372CD0-347B-4C7F-AD39-78B556A7DD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61" y="6205829"/>
            <a:ext cx="1524000" cy="3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10841"/>
      </p:ext>
    </p:extLst>
  </p:cSld>
  <p:clrMapOvr>
    <a:masterClrMapping/>
  </p:clrMapOvr>
  <p:transition spd="med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07555"/>
      </p:ext>
    </p:extLst>
  </p:cSld>
  <p:clrMapOvr>
    <a:masterClrMapping/>
  </p:clrMapOvr>
  <p:transition spd="med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201775"/>
      </p:ext>
    </p:extLst>
  </p:cSld>
  <p:clrMapOvr>
    <a:masterClrMapping/>
  </p:clrMapOvr>
  <p:transition spd="med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65202"/>
            <a:ext cx="5384800" cy="52038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82133"/>
            <a:ext cx="5384800" cy="518689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1785"/>
      </p:ext>
    </p:extLst>
  </p:cSld>
  <p:clrMapOvr>
    <a:masterClrMapping/>
  </p:clrMapOvr>
  <p:transition spd="med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533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50298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0059"/>
            <a:ext cx="5386917" cy="4672517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95029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590060"/>
            <a:ext cx="5389033" cy="4661884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58606"/>
      </p:ext>
    </p:extLst>
  </p:cSld>
  <p:clrMapOvr>
    <a:masterClrMapping/>
  </p:clrMapOvr>
  <p:transition spd="med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6760"/>
      </p:ext>
    </p:extLst>
  </p:cSld>
  <p:clrMapOvr>
    <a:masterClrMapping/>
  </p:clrMapOvr>
  <p:transition spd="med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59507"/>
      </p:ext>
    </p:extLst>
  </p:cSld>
  <p:clrMapOvr>
    <a:masterClrMapping/>
  </p:clrMapOvr>
  <p:transition spd="med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9715"/>
      </p:ext>
    </p:extLst>
  </p:cSld>
  <p:clrMapOvr>
    <a:masterClrMapping/>
  </p:clrMapOvr>
  <p:transition spd="med"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78143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05177"/>
      </p:ext>
    </p:extLst>
  </p:cSld>
  <p:clrMapOvr>
    <a:masterClrMapping/>
  </p:clrMapOvr>
  <p:transition spd="med"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36070" y="182563"/>
            <a:ext cx="646331" cy="5986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2563"/>
            <a:ext cx="8026400" cy="5986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0476"/>
      </p:ext>
    </p:extLst>
  </p:cSld>
  <p:clrMapOvr>
    <a:masterClrMapping/>
  </p:clrMapOvr>
  <p:transition spd="med"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906"/>
      </p:ext>
    </p:extLst>
  </p:cSld>
  <p:clrMapOvr>
    <a:masterClrMapping/>
  </p:clrMapOvr>
  <p:transition spd="med"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prstGeom prst="rect">
            <a:avLst/>
          </a:prstGeo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D3D4A-7E28-4220-9909-287F9B6EB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40613"/>
      </p:ext>
    </p:extLst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C882809-195B-4C71-AF45-AF8015062DE4}" type="datetimeFigureOut">
              <a:rPr lang="en-US" smtClean="0"/>
              <a:pPr/>
              <a:t>02/13/26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D1BBCF7-C2B2-490C-A676-476317972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3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2" r:id="rId3"/>
    <p:sldLayoutId id="21474837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37383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F0F5CB-0D47-4D83-91C4-D40A395E459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" t="7487" b="7207"/>
          <a:stretch/>
        </p:blipFill>
        <p:spPr>
          <a:xfrm>
            <a:off x="33250" y="6148938"/>
            <a:ext cx="1826051" cy="709062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968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9C87F91-BFE2-284C-8E09-D1E69062B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6817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7C2DE-E3C8-B14E-B1DC-1B0DBDEF69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32" y="6089972"/>
            <a:ext cx="1833097" cy="7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2D2A-00DF-404A-9F1C-0471527E6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92" y="1007793"/>
            <a:ext cx="12192479" cy="3690815"/>
          </a:xfrm>
        </p:spPr>
        <p:txBody>
          <a:bodyPr anchor="ctr" anchorCtr="1">
            <a:noAutofit/>
          </a:bodyPr>
          <a:lstStyle/>
          <a:p>
            <a:r>
              <a:rPr lang="en-US" sz="4000" dirty="0"/>
              <a:t>Lithium Extraction with ePC-SAFT</a:t>
            </a:r>
            <a:br>
              <a:rPr lang="en-US" sz="40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02/13/2026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Tanner Polley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AC619-E783-F347-B0A1-562FEFE97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31" y="4869340"/>
            <a:ext cx="2950799" cy="115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0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A6D6-A8A1-B59D-D2D3-09C0A777B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Lithium Demand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923147-A878-8F4B-964F-20D54107F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29524" y="1649701"/>
            <a:ext cx="5993624" cy="3065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71EFD-7B17-EABD-39DB-955282D24548}"/>
              </a:ext>
            </a:extLst>
          </p:cNvPr>
          <p:cNvSpPr txBox="1"/>
          <p:nvPr/>
        </p:nvSpPr>
        <p:spPr>
          <a:xfrm>
            <a:off x="381662" y="1058913"/>
            <a:ext cx="48423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lithium demand is projected to exceed 2.5 million metric tons of lithium carbonate equivalent (LCE) by 2030, largely driven by electric vehicles and grid-scale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supply chains rely heavily on South American brines and Australian spodumene, which face both geographic and processing constraints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Produced water from oil and gas wells can contain lithium concentrations ranging from &lt;10 mg/L to more than 400 mg/L, offering significant untapped potential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Valorizing produced water provides dual benefits: meeting lithium demand and offsetting disposal costs for oil and gas operators</a:t>
            </a:r>
          </a:p>
        </p:txBody>
      </p:sp>
    </p:spTree>
    <p:extLst>
      <p:ext uri="{BB962C8B-B14F-4D97-AF65-F5344CB8AC3E}">
        <p14:creationId xmlns:p14="http://schemas.microsoft.com/office/powerpoint/2010/main" val="86256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7BA4-7B0C-402C-E492-0EBC09194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Produced Water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D0042-8A81-3A28-7EC9-1C250CD5E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851386"/>
            <a:ext cx="5595859" cy="3212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BF6A79-E966-1752-12BC-A2D1590D3872}"/>
              </a:ext>
            </a:extLst>
          </p:cNvPr>
          <p:cNvSpPr txBox="1"/>
          <p:nvPr/>
        </p:nvSpPr>
        <p:spPr>
          <a:xfrm>
            <a:off x="500141" y="920621"/>
            <a:ext cx="516118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Produced water is the largest waste stream of the oil and gas industry, with global volumes exceeding 250 billion barrels annually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composition varies by reservoir: shale gas waters often show lower lithium (&lt;50 mg/L), while certain oilfield brines in North America can exceed 200 mg/L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salinity levels (TDS often &gt;100,000 mg/L) and competing cations such as Na+, Ca2+, and Mg2+ complicate lithium separation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Targeting reservoirs with higher Li/Na ratios improves economic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Produced water varies widely in chemistry, meaning not all wells are good candidates. Identifying sweet spots with favorable lithium concentrations and lower interferences is critical to make extraction viable.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434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3094-2640-4121-54A9-A7C9697B5D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Solvent Extraction of Lithium?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DC1E2-A27A-9938-96C5-D391B392D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8" y="1742079"/>
            <a:ext cx="5549727" cy="1854220"/>
          </a:xfrm>
        </p:spPr>
        <p:txBody>
          <a:bodyPr>
            <a:noAutofit/>
          </a:bodyPr>
          <a:lstStyle/>
          <a:p>
            <a:r>
              <a:rPr lang="en-US" sz="2000" dirty="0"/>
              <a:t>Strengths:</a:t>
            </a:r>
          </a:p>
          <a:p>
            <a:pPr lvl="1"/>
            <a:r>
              <a:rPr lang="en-US" sz="2000" dirty="0"/>
              <a:t>E</a:t>
            </a:r>
            <a:r>
              <a:rPr lang="en-US" sz="2000" b="0" dirty="0"/>
              <a:t>nables continuous processing </a:t>
            </a:r>
          </a:p>
          <a:p>
            <a:pPr lvl="1"/>
            <a:r>
              <a:rPr lang="en-US" sz="2000" dirty="0"/>
              <a:t>H</a:t>
            </a:r>
            <a:r>
              <a:rPr lang="en-US" sz="2000" b="0" dirty="0"/>
              <a:t>as high efficiency and selectivity </a:t>
            </a:r>
          </a:p>
          <a:p>
            <a:pPr lvl="1"/>
            <a:r>
              <a:rPr lang="en-US" sz="2000" dirty="0"/>
              <a:t>Can </a:t>
            </a:r>
            <a:r>
              <a:rPr lang="en-US" sz="2000" b="0" dirty="0"/>
              <a:t>operate under mild conditions</a:t>
            </a:r>
            <a:endParaRPr lang="en-US" sz="2000" dirty="0"/>
          </a:p>
          <a:p>
            <a:pPr lvl="1"/>
            <a:r>
              <a:rPr lang="en-US" sz="2000" dirty="0"/>
              <a:t>C</a:t>
            </a:r>
            <a:r>
              <a:rPr lang="en-US" sz="2000" b="0" dirty="0"/>
              <a:t>onsumes less energy</a:t>
            </a:r>
            <a:endParaRPr lang="en-US" sz="2000" dirty="0"/>
          </a:p>
          <a:p>
            <a:pPr lvl="1"/>
            <a:r>
              <a:rPr lang="en-US" sz="2000" b="0" dirty="0"/>
              <a:t>Doesn't require highly acidic environments like some alternatives.</a:t>
            </a:r>
          </a:p>
          <a:p>
            <a:endParaRPr lang="en-US" sz="2000" dirty="0"/>
          </a:p>
        </p:txBody>
      </p:sp>
      <p:pic>
        <p:nvPicPr>
          <p:cNvPr id="1026" name="Picture 2" descr="The recovery and separation of lithium by using solvent extraction methods  - ScienceDirect">
            <a:extLst>
              <a:ext uri="{FF2B5EF4-FFF2-40B4-BE49-F238E27FC236}">
                <a16:creationId xmlns:a16="http://schemas.microsoft.com/office/drawing/2014/main" id="{450A3C16-91DE-BA3B-1062-99AB52AA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178" y="2195990"/>
            <a:ext cx="5901069" cy="26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EB27DB0-1462-B34B-CA22-BF66A16359F2}"/>
              </a:ext>
            </a:extLst>
          </p:cNvPr>
          <p:cNvSpPr txBox="1">
            <a:spLocks/>
          </p:cNvSpPr>
          <p:nvPr/>
        </p:nvSpPr>
        <p:spPr>
          <a:xfrm>
            <a:off x="340451" y="4040006"/>
            <a:ext cx="5549727" cy="1854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336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◦"/>
              <a:defRPr sz="24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―"/>
              <a:defRPr sz="20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▪"/>
              <a:defRPr sz="18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▫"/>
              <a:defRPr sz="18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Weaknesses:</a:t>
            </a:r>
          </a:p>
          <a:p>
            <a:pPr lvl="1"/>
            <a:r>
              <a:rPr lang="en-US" sz="2000" dirty="0"/>
              <a:t>Complicated Preparation</a:t>
            </a:r>
          </a:p>
          <a:p>
            <a:pPr lvl="1"/>
            <a:r>
              <a:rPr lang="en-US" sz="2000" dirty="0"/>
              <a:t>Necessary Pretreatment for Divalent Cations</a:t>
            </a:r>
          </a:p>
          <a:p>
            <a:pPr lvl="1"/>
            <a:r>
              <a:rPr lang="en-US" sz="2000" dirty="0"/>
              <a:t>Potentially larger capital cost</a:t>
            </a:r>
          </a:p>
          <a:p>
            <a:pPr lvl="1"/>
            <a:r>
              <a:rPr lang="en-US" sz="2000" dirty="0"/>
              <a:t>High waste production</a:t>
            </a:r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1FF55-D3D6-45DA-0674-351409E300B0}"/>
              </a:ext>
            </a:extLst>
          </p:cNvPr>
          <p:cNvSpPr txBox="1"/>
          <p:nvPr/>
        </p:nvSpPr>
        <p:spPr>
          <a:xfrm>
            <a:off x="340451" y="861248"/>
            <a:ext cx="956541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Almousa [1] ranked solvent extraction highest among DLE technologies in terms of scalability, cost, and selectivity after a comprehensive review of relevant technologies.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FBE6-88E7-967F-A5D4-9C2FB22DE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ePC-SAFT?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7D4C9-4796-7125-726F-4AB111C6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8" y="1087763"/>
            <a:ext cx="5369042" cy="4933476"/>
          </a:xfrm>
        </p:spPr>
        <p:txBody>
          <a:bodyPr>
            <a:normAutofit lnSpcReduction="10000"/>
          </a:bodyPr>
          <a:lstStyle/>
          <a:p>
            <a:r>
              <a:rPr lang="en-US" sz="2000" b="0" dirty="0"/>
              <a:t>ePC-SAFT (electrolyte Perturbed-Chain Statistical Associating Fluid Theory) is a thermodynamic model that predicts phase behavior in complex electrolyte systems, including ionic liquids.</a:t>
            </a:r>
          </a:p>
          <a:p>
            <a:r>
              <a:rPr lang="en-US" sz="2000" b="0" dirty="0"/>
              <a:t>It accounts for multiple molecular interactions—including dispersion forces, association (like hydrogen bonding), and electrostatics (via Debye–</a:t>
            </a:r>
            <a:r>
              <a:rPr lang="en-US" sz="2000" b="0" dirty="0" err="1"/>
              <a:t>Hückel</a:t>
            </a:r>
            <a:r>
              <a:rPr lang="en-US" sz="2000" b="0" dirty="0"/>
              <a:t> and Born terms)—giving it wide applicability.</a:t>
            </a:r>
          </a:p>
          <a:p>
            <a:r>
              <a:rPr lang="en-US" sz="2000" b="0" dirty="0"/>
              <a:t>Unlike simpler models, ePC-SAFT is built on a molecular foundation, allowing more accurate prediction of phenomena like ion-pairing, phase separation, and solubility in multicomponent mixtures. It also contains only 2 tunable parameters which is much lower than other existing models for electrolyte solutions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6CF12-5D7E-F774-85EA-B489CD596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670" y="1660977"/>
            <a:ext cx="5946586" cy="86753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D32A70E-8F84-D0E4-B859-47AD36D45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504" y="3004310"/>
            <a:ext cx="5648533" cy="2044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95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D687-2FDD-73CB-8DAE-FE7DE4A38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ePC-SAFT Model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271F-CF91-A385-9BBB-D781A720F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8" y="1310701"/>
            <a:ext cx="5711718" cy="4933476"/>
          </a:xfrm>
        </p:spPr>
        <p:txBody>
          <a:bodyPr>
            <a:normAutofit/>
          </a:bodyPr>
          <a:lstStyle/>
          <a:p>
            <a:r>
              <a:rPr lang="en-US" sz="2000" dirty="0"/>
              <a:t>2005: First added the Debye </a:t>
            </a:r>
            <a:r>
              <a:rPr lang="en-US" sz="2000" dirty="0" err="1"/>
              <a:t>Huckel</a:t>
            </a:r>
            <a:r>
              <a:rPr lang="en-US" sz="2000" dirty="0"/>
              <a:t> Term to the PC-SAFT </a:t>
            </a:r>
            <a:r>
              <a:rPr lang="en-US" sz="2000" dirty="0" err="1"/>
              <a:t>EoS</a:t>
            </a:r>
            <a:endParaRPr lang="en-US" sz="2000" dirty="0"/>
          </a:p>
          <a:p>
            <a:r>
              <a:rPr lang="en-US" sz="2000" dirty="0"/>
              <a:t>2008: Retuned pure component parameters</a:t>
            </a:r>
          </a:p>
          <a:p>
            <a:r>
              <a:rPr lang="en-US" sz="2000" dirty="0"/>
              <a:t>2014: Added binary interaction parameters for ion-ion and ion-solvent interactions</a:t>
            </a:r>
          </a:p>
          <a:p>
            <a:r>
              <a:rPr lang="en-US" sz="2000" dirty="0"/>
              <a:t>2020: Added concentration dependent dielectric constant and born term</a:t>
            </a:r>
          </a:p>
          <a:p>
            <a:r>
              <a:rPr lang="en-US" sz="2000" dirty="0"/>
              <a:t>2021: Adds a potential </a:t>
            </a:r>
            <a:r>
              <a:rPr lang="en-US" sz="2000" dirty="0" err="1"/>
              <a:t>Bjeruum</a:t>
            </a:r>
            <a:r>
              <a:rPr lang="en-US" sz="2000" dirty="0"/>
              <a:t> treatment option</a:t>
            </a:r>
          </a:p>
          <a:p>
            <a:r>
              <a:rPr lang="en-US" sz="2000" dirty="0"/>
              <a:t>2025: Adds the SSM+DS version of the born term (solvation shell model + dielectric saturation)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8253E-13AA-A068-05CF-EA0DC4AFD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10701"/>
            <a:ext cx="5711718" cy="396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74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078A-43EB-A658-DE12-2E667DD58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Debye </a:t>
            </a:r>
            <a:r>
              <a:rPr lang="en-US" dirty="0" err="1"/>
              <a:t>Huckel</a:t>
            </a:r>
            <a:r>
              <a:rPr lang="en-US" dirty="0"/>
              <a:t> vs 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B1993-F82C-A0F7-322F-3377F217B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8" y="1310399"/>
            <a:ext cx="5661045" cy="317413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Debye–</a:t>
            </a:r>
            <a:r>
              <a:rPr lang="en-US" dirty="0" err="1"/>
              <a:t>Hückel</a:t>
            </a:r>
            <a:r>
              <a:rPr lang="en-US" dirty="0"/>
              <a:t> (DH):</a:t>
            </a:r>
            <a:r>
              <a:rPr lang="en-US" b="0" dirty="0"/>
              <a:t> long-range ion–ion electrostatics and screening; primary driver of MIAC trends vs salt level</a:t>
            </a:r>
          </a:p>
          <a:p>
            <a:r>
              <a:rPr lang="en-US" dirty="0"/>
              <a:t>Born:</a:t>
            </a:r>
            <a:r>
              <a:rPr lang="en-US" b="0" dirty="0"/>
              <a:t> ion–solvent solvation free energy; becomes critical when moving from water to lower-permittivity solvents</a:t>
            </a:r>
          </a:p>
          <a:p>
            <a:r>
              <a:rPr lang="en-US" b="0" dirty="0"/>
              <a:t>Separating DH and Born makes debugging physical: ion–ion mismatch vs ion–solvent mismatch</a:t>
            </a:r>
          </a:p>
          <a:p>
            <a:r>
              <a:rPr lang="en-US" b="0" dirty="0"/>
              <a:t>Born can be small in mostly-aqueous cases, but it is not optional for mixed-solvent transfer predictions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32DBF-5F44-A7C8-C03C-D1E477B1B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82" y="840847"/>
            <a:ext cx="5228488" cy="3643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1B5840-F083-8A9F-C9F3-5792AA6A4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769" y="4708118"/>
            <a:ext cx="4061662" cy="93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6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95E7-FE71-AC01-433E-7965DBED8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Relative Permittivity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F21A-4036-D166-69B0-F58B5DC4C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7" y="1087763"/>
            <a:ext cx="5287335" cy="4933476"/>
          </a:xfrm>
        </p:spPr>
        <p:txBody>
          <a:bodyPr>
            <a:normAutofit fontScale="92500" lnSpcReduction="10000"/>
          </a:bodyPr>
          <a:lstStyle/>
          <a:p>
            <a:r>
              <a:rPr lang="en-US" b="0" dirty="0"/>
              <a:t>Permittivity sets the “strength” of electrostatics in both DH and Born terms</a:t>
            </a:r>
          </a:p>
          <a:p>
            <a:r>
              <a:rPr lang="en-US" b="0" dirty="0"/>
              <a:t>Constant permittivity can work locally, but it breaks when solvent composition or salt loading shifts ε meaningfully</a:t>
            </a:r>
          </a:p>
          <a:p>
            <a:r>
              <a:rPr lang="en-US" b="0" dirty="0"/>
              <a:t>The 2020 approach treats ε as composition-dependent and includes the needed derivatives for chemical potentials</a:t>
            </a:r>
          </a:p>
          <a:p>
            <a:r>
              <a:rPr lang="en-US" b="0" dirty="0"/>
              <a:t>This is the key ingredient for credible water → alcohol/organic electrolyte predictions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ACF06-AB8A-B035-519F-5A76A8A42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590" y="1526694"/>
            <a:ext cx="4976989" cy="391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22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E3E5-16FE-EA47-F898-A144CB00B2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C++ to Python based ePC-SAFT Package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3C86-D42D-32EF-8902-BC5E6869C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Side-by-side model presets (2005 / 2008 / 2014 / 2020) to reproduce literature assumptions consistently</a:t>
            </a:r>
          </a:p>
          <a:p>
            <a:r>
              <a:rPr lang="en-US" b="0" dirty="0"/>
              <a:t>A dielectric “engine” with selectable mixing rules and analytic derivatives (with safe numerical fallback)</a:t>
            </a:r>
          </a:p>
          <a:p>
            <a:r>
              <a:rPr lang="en-US" b="0" dirty="0"/>
              <a:t>Altered Born contribution options to match 2020-style composition-dependent ε behavior</a:t>
            </a:r>
          </a:p>
          <a:p>
            <a:r>
              <a:rPr lang="en-US" b="0" dirty="0"/>
              <a:t>Guardrails: SSM+DS-style Born solvation shell + dielectric saturation is not part of the current baseline workflow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531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7511-60F0-752C-6C6A-0F7D5CA08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Mean Ionic Activity Coefficient Fits - Water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3578B-8033-F0E2-3FC6-9B1BC3637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248"/>
            <a:ext cx="3875315" cy="2691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B23DD3-E954-3762-4B01-DB9B9014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44" y="790944"/>
            <a:ext cx="4077788" cy="2831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B160F8-36F9-6BE2-6A32-7748BCBA6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3763" y="896400"/>
            <a:ext cx="3875313" cy="2691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42E0E5-2664-B2A5-EE71-D06E65660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111" y="3519799"/>
            <a:ext cx="3668050" cy="2547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71393D-AD83-AA2A-BF39-8B786A98D4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5348" y="3519798"/>
            <a:ext cx="3668050" cy="25472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CA33D2-84FD-5DE8-7D8D-8B2731A18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619" y="3519798"/>
            <a:ext cx="3587931" cy="249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07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F1D1-2D8B-B801-54AE-4775560D74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Mean Ionic Activity Coefficient Fits - Methanol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4DFC5-695E-67A5-CA83-2991E096A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628" y="1861456"/>
            <a:ext cx="4015197" cy="2788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09543D-86C3-A3A8-5EE6-C48F3D5BE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825" y="1979573"/>
            <a:ext cx="3675017" cy="2552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A4E9A4-73F0-8643-985B-08339039D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183" y="1979573"/>
            <a:ext cx="3479946" cy="241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0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79A4-5521-512F-CBB9-E08CDDC33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Mean Ionic Activity Coefficient Fits - Ethanol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8FE5E0-E1CE-7F20-C9E6-5F9298AA6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628" y="2132806"/>
            <a:ext cx="3733039" cy="2592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5AD8B6-DBA4-F139-4A8F-AEA71781B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335" y="2132806"/>
            <a:ext cx="3573996" cy="2481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8669CF-37F4-76C0-0872-808DE90CE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268" y="2307770"/>
            <a:ext cx="3322047" cy="230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83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4C41-4701-B083-038F-3F2D174B66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the 2020 Model Is the Best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86134-E00A-050D-A8F1-9B8D51935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Best balance today: strong aqueous grounding plus credible transfer toward non-aqueous/mixed-solvent systems</a:t>
            </a:r>
          </a:p>
          <a:p>
            <a:r>
              <a:rPr lang="en-US" b="0" dirty="0"/>
              <a:t>Keeps the parameter philosophy clean: mostly pure-component/ion parameters with a consistent </a:t>
            </a:r>
            <a:r>
              <a:rPr lang="en-US" b="0" dirty="0" err="1"/>
              <a:t>kij</a:t>
            </a:r>
            <a:r>
              <a:rPr lang="en-US" b="0" dirty="0"/>
              <a:t> strategy</a:t>
            </a:r>
          </a:p>
          <a:p>
            <a:r>
              <a:rPr lang="en-US" b="0" dirty="0"/>
              <a:t>Avoids adding extra empirical knobs unless the data demands it (better for scale-up and extrapolation)</a:t>
            </a:r>
          </a:p>
          <a:p>
            <a:r>
              <a:rPr lang="en-US" b="0" dirty="0"/>
              <a:t>Sets the right foundation for LLE coupling because electrostatics respond correctly to solvent composition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41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DC96-A808-9DDB-2C3E-3725BAC5C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LLE for Solvent Extraction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873517-2D46-44C0-D820-49693AA2B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4084" y="1059996"/>
            <a:ext cx="5591809" cy="49339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6D6862-A560-ADF1-B815-6D14A58C1BB7}"/>
              </a:ext>
            </a:extLst>
          </p:cNvPr>
          <p:cNvSpPr txBox="1">
            <a:spLocks/>
          </p:cNvSpPr>
          <p:nvPr/>
        </p:nvSpPr>
        <p:spPr>
          <a:xfrm>
            <a:off x="270628" y="1310701"/>
            <a:ext cx="3256343" cy="493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336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◦"/>
              <a:defRPr sz="24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―"/>
              <a:defRPr sz="20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▪"/>
              <a:defRPr sz="18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502020202020204" pitchFamily="34" charset="0"/>
              <a:buChar char="▫"/>
              <a:defRPr sz="1800" b="0" i="0" kern="1200">
                <a:solidFill>
                  <a:srgbClr val="373838"/>
                </a:solidFill>
                <a:latin typeface="+mn-lt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Inside the PC-SAFT package is a two liquid phase equilibrium algorithm that can take a generic feed composition and determine the existent of two liquid phases and then produce the equilibrium compositions of both the aqueous phase and organic phase</a:t>
            </a:r>
          </a:p>
          <a:p>
            <a:r>
              <a:rPr lang="en-US" sz="2000" dirty="0"/>
              <a:t>It showcases the possibility of a transfer for an ion from one phase to another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3EFB80-80CB-FDAB-2B18-B3EF80CCA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971" y="1486388"/>
            <a:ext cx="2897113" cy="388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22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ADBC-9EF0-7760-B5D6-6F01B7E6E6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Currently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C40D6-94D2-2EA0-6B75-83CCA7C1F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7" y="1087763"/>
            <a:ext cx="4667133" cy="4933476"/>
          </a:xfrm>
        </p:spPr>
        <p:txBody>
          <a:bodyPr/>
          <a:lstStyle/>
          <a:p>
            <a:r>
              <a:rPr lang="en-US" dirty="0"/>
              <a:t>Demonstration of Lithium extraction from produced water  </a:t>
            </a:r>
          </a:p>
          <a:p>
            <a:r>
              <a:rPr lang="en-US" dirty="0"/>
              <a:t>Parameters for the specific solvents will be fitted</a:t>
            </a:r>
          </a:p>
          <a:p>
            <a:r>
              <a:rPr lang="en-US" dirty="0"/>
              <a:t>Determination of which </a:t>
            </a:r>
            <a:r>
              <a:rPr lang="en-US" dirty="0" err="1"/>
              <a:t>epc</a:t>
            </a:r>
            <a:r>
              <a:rPr lang="en-US" dirty="0"/>
              <a:t>-saft model to use to for this specific set of solvents and ions</a:t>
            </a:r>
          </a:p>
        </p:txBody>
      </p:sp>
      <p:pic>
        <p:nvPicPr>
          <p:cNvPr id="1026" name="Picture 2" descr="Stage-3 efficiency plot">
            <a:extLst>
              <a:ext uri="{FF2B5EF4-FFF2-40B4-BE49-F238E27FC236}">
                <a16:creationId xmlns:a16="http://schemas.microsoft.com/office/drawing/2014/main" id="{1A84962E-C529-C810-5F47-6197982D0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55737"/>
            <a:ext cx="4481839" cy="284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3674B9-A643-1AA2-7D86-9CF70C1C9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61" y="1087763"/>
            <a:ext cx="3439005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70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73838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 Cover Title.pptx" id="{EB5E8C3F-626B-4B4B-ACCF-A49F74929750}" vid="{91F68650-2EA8-49F3-A5C8-A6A4201928CA}"/>
    </a:ext>
  </a:extLst>
</a:theme>
</file>

<file path=ppt/theme/theme2.xml><?xml version="1.0" encoding="utf-8"?>
<a:theme xmlns:a="http://schemas.openxmlformats.org/drawingml/2006/main" name="1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DB6BD2039A4DA9828CDD52828D22" ma:contentTypeVersion="1" ma:contentTypeDescription="Create a new document." ma:contentTypeScope="" ma:versionID="02a2b74d7520ef9dea84c66f9fb70d3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d55f72726b9dae1b96ae9030b26e0e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2840F2-5BB0-45AB-A8DF-9A97CD9488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5341B3-53F6-453C-9EF7-531D8A95F6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D0DB2A8-98EE-4CA5-9B57-4F5F6858EA16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NETL PowerPoint Presentation Template</Template>
  <TotalTime>81859</TotalTime>
  <Words>1117</Words>
  <Application>Microsoft Office PowerPoint</Application>
  <PresentationFormat>Widescreen</PresentationFormat>
  <Paragraphs>74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Office Theme</vt:lpstr>
      <vt:lpstr>1_IDAES</vt:lpstr>
      <vt:lpstr>2_IDAES</vt:lpstr>
      <vt:lpstr>Lithium Extraction with ePC-SAFT    02/13/2026   Tanner Polley</vt:lpstr>
      <vt:lpstr>Lithium Demand</vt:lpstr>
      <vt:lpstr>Produced Water</vt:lpstr>
      <vt:lpstr>Why Solvent Extraction of Lithium?</vt:lpstr>
      <vt:lpstr>What is ePC-SAFT?</vt:lpstr>
      <vt:lpstr>ePC-SAFT Model Timeline</vt:lpstr>
      <vt:lpstr>Debye Huckel vs Born</vt:lpstr>
      <vt:lpstr>Relative Permittivity</vt:lpstr>
      <vt:lpstr>C++ to Python based ePC-SAFT Package Improvements</vt:lpstr>
      <vt:lpstr>Mean Ionic Activity Coefficient Fits - Water</vt:lpstr>
      <vt:lpstr>Mean Ionic Activity Coefficient Fits - Methanol</vt:lpstr>
      <vt:lpstr>Mean Ionic Activity Coefficient Fits - Ethanol</vt:lpstr>
      <vt:lpstr>Why the 2020 Model Is the Best Baseline</vt:lpstr>
      <vt:lpstr>LLE for Solvent Extraction</vt:lpstr>
      <vt:lpstr>Currently in Progress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Cover Title</dc:title>
  <dc:creator>Gerdes, Kristin J.</dc:creator>
  <cp:lastModifiedBy>Tanner Polley</cp:lastModifiedBy>
  <cp:revision>1289</cp:revision>
  <cp:lastPrinted>2017-09-22T14:04:48Z</cp:lastPrinted>
  <dcterms:created xsi:type="dcterms:W3CDTF">2017-01-19T16:36:42Z</dcterms:created>
  <dcterms:modified xsi:type="dcterms:W3CDTF">2026-02-18T03:19:04Z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0x01010081F5DB6BD2039A4DA9828CDD52828D22</vt:lpwstr>
  </property>
  <property fmtid="{D5CDD505-2E9C-101B-9397-08002B2CF9AE}" pid="3" name="MSIP_Label_6a247341-4757-443f-8545-88b6b969d13e_Enabled">
    <vt:lpwstr>True</vt:lpwstr>
  </property>
  <property fmtid="{D5CDD505-2E9C-101B-9397-08002B2CF9AE}" pid="4" name="MSIP_Label_6a247341-4757-443f-8545-88b6b969d13e_SiteId">
    <vt:lpwstr>94e92035-30e4-4e5d-ba5b-df8b041a8555</vt:lpwstr>
  </property>
  <property fmtid="{D5CDD505-2E9C-101B-9397-08002B2CF9AE}" pid="5" name="MSIP_Label_6a247341-4757-443f-8545-88b6b969d13e_SetDate">
    <vt:lpwstr>2023-09-06T22:32:52Z</vt:lpwstr>
  </property>
  <property fmtid="{D5CDD505-2E9C-101B-9397-08002B2CF9AE}" pid="6" name="MSIP_Label_6a247341-4757-443f-8545-88b6b969d13e_Name">
    <vt:lpwstr>Restricted</vt:lpwstr>
  </property>
  <property fmtid="{D5CDD505-2E9C-101B-9397-08002B2CF9AE}" pid="7" name="MSIP_Label_6a247341-4757-443f-8545-88b6b969d13e_ActionId">
    <vt:lpwstr>299a4785-5fc8-4858-877a-8db09950ce93</vt:lpwstr>
  </property>
  <property fmtid="{D5CDD505-2E9C-101B-9397-08002B2CF9AE}" pid="8" name="MSIP_Label_6a247341-4757-443f-8545-88b6b969d13e_Removed">
    <vt:lpwstr>False</vt:lpwstr>
  </property>
  <property fmtid="{D5CDD505-2E9C-101B-9397-08002B2CF9AE}" pid="9" name="MSIP_Label_6a247341-4757-443f-8545-88b6b969d13e_Extended_MSFT_Method">
    <vt:lpwstr>Standard</vt:lpwstr>
  </property>
  <property fmtid="{D5CDD505-2E9C-101B-9397-08002B2CF9AE}" pid="10" name="Sensitivity">
    <vt:lpwstr>Restricted</vt:lpwstr>
  </property>
</Properties>
</file>
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4"/>
    <p:sldMasterId id="2147483763" r:id="rId5"/>
    <p:sldMasterId id="2147483775" r:id="rId6"/>
  </p:sldMasterIdLst>
  <p:notesMasterIdLst>
    <p:notesMasterId r:id="rId22"/>
  </p:notesMasterIdLst>
  <p:handoutMasterIdLst>
    <p:handoutMasterId r:id="rId23"/>
  </p:handoutMasterIdLst>
  <p:sldIdLst>
    <p:sldId id="919" r:id="rId7"/>
    <p:sldId id="13308" r:id="rId8"/>
    <p:sldId id="13307" r:id="rId9"/>
    <p:sldId id="13302" r:id="rId10"/>
    <p:sldId id="13286" r:id="rId11"/>
    <p:sldId id="13309" r:id="rId12"/>
    <p:sldId id="13310" r:id="rId13"/>
    <p:sldId id="13311" r:id="rId14"/>
    <p:sldId id="13312" r:id="rId15"/>
    <p:sldId id="13313" r:id="rId16"/>
    <p:sldId id="13314" r:id="rId17"/>
    <p:sldId id="13315" r:id="rId18"/>
    <p:sldId id="13316" r:id="rId19"/>
    <p:sldId id="13317" r:id="rId20"/>
    <p:sldId id="13318" r:id="rId21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9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ison Caballero" initials="D" lastIdx="4" clrIdx="0">
    <p:extLst>
      <p:ext uri="{19B8F6BF-5375-455C-9EA6-DF929625EA0E}">
        <p15:presenceInfo xmlns:p15="http://schemas.microsoft.com/office/powerpoint/2012/main" userId="Daison Caballer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A32D"/>
    <a:srgbClr val="000000"/>
    <a:srgbClr val="373838"/>
    <a:srgbClr val="98C93D"/>
    <a:srgbClr val="F3FAFF"/>
    <a:srgbClr val="C6E898"/>
    <a:srgbClr val="93C33B"/>
    <a:srgbClr val="648825"/>
    <a:srgbClr val="6487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4" autoAdjust="0"/>
    <p:restoredTop sz="79298" autoAdjust="0"/>
  </p:normalViewPr>
  <p:slideViewPr>
    <p:cSldViewPr snapToGrid="0">
      <p:cViewPr varScale="1">
        <p:scale>
          <a:sx n="88" d="100"/>
          <a:sy n="88" d="100"/>
        </p:scale>
        <p:origin x="160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920"/>
    </p:cViewPr>
  </p:sorterViewPr>
  <p:notesViewPr>
    <p:cSldViewPr snapToGrid="0">
      <p:cViewPr varScale="1">
        <p:scale>
          <a:sx n="119" d="100"/>
          <a:sy n="119" d="100"/>
        </p:scale>
        <p:origin x="4122" y="84"/>
      </p:cViewPr>
      <p:guideLst>
        <p:guide orient="horz" pos="2909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9" y="0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r">
              <a:defRPr sz="1200"/>
            </a:lvl1pPr>
          </a:lstStyle>
          <a:p>
            <a:fld id="{154CA9B8-74BC-42CC-8AD2-E73F5E847AA6}" type="datetimeFigureOut">
              <a:rPr lang="en-US" smtClean="0"/>
              <a:pPr/>
              <a:t>03/17/26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772669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9" y="8772669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r">
              <a:defRPr sz="1200"/>
            </a:lvl1pPr>
          </a:lstStyle>
          <a:p>
            <a:fld id="{B533F5EF-7B2D-436D-B831-F48ECB832F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978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7840" cy="463407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3407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r">
              <a:defRPr sz="1200"/>
            </a:lvl1pPr>
          </a:lstStyle>
          <a:p>
            <a:fld id="{010CAAA1-2DC6-469D-86AF-311C333CDD14}" type="datetimeFigureOut">
              <a:rPr lang="en-US" smtClean="0"/>
              <a:pPr/>
              <a:t>03/17/26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6600" y="1154113"/>
            <a:ext cx="5538788" cy="31162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46" tIns="46223" rIns="92446" bIns="4622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1"/>
            <a:ext cx="5608320" cy="3636705"/>
          </a:xfrm>
          <a:prstGeom prst="rect">
            <a:avLst/>
          </a:prstGeom>
        </p:spPr>
        <p:txBody>
          <a:bodyPr vert="horz" lIns="92446" tIns="46223" rIns="92446" bIns="4622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8772670"/>
            <a:ext cx="3037840" cy="463406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772670"/>
            <a:ext cx="3037840" cy="463406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r">
              <a:defRPr sz="1200"/>
            </a:lvl1pPr>
          </a:lstStyle>
          <a:p>
            <a:fld id="{73798CC5-B40D-4675-A662-FAA7C61DAE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872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33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(1) Almousa, M.; Lim, Y. H.; </a:t>
            </a:r>
            <a:r>
              <a:rPr lang="en-US" b="0" dirty="0" err="1"/>
              <a:t>AlMubaidin</a:t>
            </a:r>
            <a:r>
              <a:rPr lang="en-US" b="0" dirty="0"/>
              <a:t>, M.; Alshami, A.; Al-</a:t>
            </a:r>
            <a:r>
              <a:rPr lang="en-US" b="0" dirty="0" err="1"/>
              <a:t>Tayyem</a:t>
            </a:r>
            <a:r>
              <a:rPr lang="en-US" b="0" dirty="0"/>
              <a:t>, B. H.; </a:t>
            </a:r>
            <a:r>
              <a:rPr lang="en-US" b="0" dirty="0" err="1"/>
              <a:t>Tomomewo</a:t>
            </a:r>
            <a:r>
              <a:rPr lang="en-US" b="0" dirty="0"/>
              <a:t>, O.; Khalifa, H. Comparative Feasibility of Lithium Extraction Technologies in U.S. Oilfields. </a:t>
            </a:r>
            <a:r>
              <a:rPr lang="en-US" b="0" i="1" dirty="0" err="1"/>
              <a:t>Desalin</a:t>
            </a:r>
            <a:r>
              <a:rPr lang="en-US" b="0" i="1" dirty="0"/>
              <a:t>. Water Treat.</a:t>
            </a:r>
            <a:r>
              <a:rPr lang="en-US" b="0" dirty="0"/>
              <a:t> 2025, </a:t>
            </a:r>
            <a:r>
              <a:rPr lang="en-US" b="0" i="1" dirty="0"/>
              <a:t>322</a:t>
            </a:r>
            <a:r>
              <a:rPr lang="en-US" b="0" dirty="0"/>
              <a:t>, 101128. https://doi.org/10.1016/J.DWT.2025.101128.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978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441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dirty="0"/>
              <a:t>(23) Kanagasundaram, T.; Murphy, O.; Haji, M. N.; Wilson, J. J. The Recovery and Separation of Lithium by Using Solvent Extraction Methods. </a:t>
            </a:r>
            <a:r>
              <a:rPr lang="en-US" sz="1200" b="0" i="1" dirty="0"/>
              <a:t>Coord. Chem. Rev.</a:t>
            </a:r>
            <a:r>
              <a:rPr lang="en-US" sz="1200" b="0" dirty="0"/>
              <a:t> 2024, </a:t>
            </a:r>
            <a:r>
              <a:rPr lang="en-US" sz="1200" b="0" i="1" dirty="0"/>
              <a:t>509</a:t>
            </a:r>
            <a:r>
              <a:rPr lang="en-US" sz="1200" b="0" dirty="0"/>
              <a:t> (December 2023), 215727. https://doi.org/10.1016/j.ccr.2024.215727.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336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(1) Yu, G.; Li, Y.; Zhang, X.; </a:t>
            </a:r>
            <a:r>
              <a:rPr lang="en-US" dirty="0" err="1">
                <a:effectLst/>
              </a:rPr>
              <a:t>Jovein</a:t>
            </a:r>
            <a:r>
              <a:rPr lang="en-US" dirty="0">
                <a:effectLst/>
              </a:rPr>
              <a:t>, I. B.; Figiel, P.; Chen, B.; Ji, Y.; Sadowski, G.; Held, C. Lithium Extraction from Salt-Lake Brines Using </a:t>
            </a:r>
            <a:r>
              <a:rPr lang="en-US" dirty="0" err="1">
                <a:effectLst/>
              </a:rPr>
              <a:t>Dicationic</a:t>
            </a:r>
            <a:r>
              <a:rPr lang="en-US" dirty="0">
                <a:effectLst/>
              </a:rPr>
              <a:t> Ionic Liquids: EPC-SAFT Modeling and Molecular Mechanisms. </a:t>
            </a:r>
            <a:r>
              <a:rPr lang="en-US" i="1" dirty="0">
                <a:effectLst/>
              </a:rPr>
              <a:t>AIChE J.</a:t>
            </a:r>
            <a:r>
              <a:rPr lang="en-US" dirty="0">
                <a:effectLst/>
              </a:rPr>
              <a:t> </a:t>
            </a:r>
            <a:r>
              <a:rPr lang="en-US" b="1" dirty="0">
                <a:effectLst/>
              </a:rPr>
              <a:t>2025</a:t>
            </a:r>
            <a:r>
              <a:rPr lang="en-US" dirty="0">
                <a:effectLst/>
              </a:rPr>
              <a:t>, </a:t>
            </a:r>
            <a:r>
              <a:rPr lang="en-US" i="1" dirty="0">
                <a:effectLst/>
              </a:rPr>
              <a:t>71</a:t>
            </a:r>
            <a:r>
              <a:rPr lang="en-US" dirty="0">
                <a:effectLst/>
              </a:rPr>
              <a:t> (April), e18907. https://doi.org/10.1002/AIC.18907.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1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9.emf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ctrTitle" hasCustomPrompt="1"/>
          </p:nvPr>
        </p:nvSpPr>
        <p:spPr>
          <a:xfrm>
            <a:off x="228500" y="613326"/>
            <a:ext cx="11735000" cy="2387600"/>
          </a:xfrm>
        </p:spPr>
        <p:txBody>
          <a:bodyPr anchor="b"/>
          <a:lstStyle>
            <a:lvl1pPr algn="ctr">
              <a:defRPr sz="6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Cover Long Title</a:t>
            </a:r>
          </a:p>
        </p:txBody>
      </p:sp>
      <p:sp>
        <p:nvSpPr>
          <p:cNvPr id="2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500" y="3093001"/>
            <a:ext cx="11735000" cy="1655762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373838"/>
                </a:solidFill>
                <a:latin typeface="+mn-lt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Master Cover Subtitle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04" y="4964825"/>
            <a:ext cx="2307273" cy="917977"/>
          </a:xfrm>
          <a:prstGeom prst="rect">
            <a:avLst/>
          </a:prstGeom>
        </p:spPr>
      </p:pic>
      <p:sp>
        <p:nvSpPr>
          <p:cNvPr id="27" name="Rectangle 26"/>
          <p:cNvSpPr/>
          <p:nvPr userDrawn="1"/>
        </p:nvSpPr>
        <p:spPr>
          <a:xfrm flipH="1">
            <a:off x="53265" y="-9526"/>
            <a:ext cx="70560" cy="6858001"/>
          </a:xfrm>
          <a:prstGeom prst="rect">
            <a:avLst/>
          </a:prstGeom>
          <a:gradFill flip="none" rotWithShape="1">
            <a:gsLst>
              <a:gs pos="0">
                <a:srgbClr val="98C93D"/>
              </a:gs>
              <a:gs pos="100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+mn-lt"/>
            </a:endParaRPr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A3F6500A-D256-4B4C-8DCE-2A96969C0C1A}"/>
              </a:ext>
            </a:extLst>
          </p:cNvPr>
          <p:cNvSpPr txBox="1">
            <a:spLocks/>
          </p:cNvSpPr>
          <p:nvPr userDrawn="1"/>
        </p:nvSpPr>
        <p:spPr>
          <a:xfrm>
            <a:off x="1551286" y="6515822"/>
            <a:ext cx="30521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+mn-lt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4200167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/>
          <p:cNvCxnSpPr/>
          <p:nvPr userDrawn="1"/>
        </p:nvCxnSpPr>
        <p:spPr>
          <a:xfrm>
            <a:off x="0" y="753618"/>
            <a:ext cx="9858375" cy="0"/>
          </a:xfrm>
          <a:prstGeom prst="line">
            <a:avLst/>
          </a:prstGeom>
          <a:ln w="22225">
            <a:solidFill>
              <a:srgbClr val="98C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270628" y="260268"/>
            <a:ext cx="11580921" cy="60098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Page Title 1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4113" y="260267"/>
            <a:ext cx="1917435" cy="762875"/>
          </a:xfrm>
          <a:prstGeom prst="rect">
            <a:avLst/>
          </a:prstGeom>
        </p:spPr>
      </p:pic>
      <p:sp>
        <p:nvSpPr>
          <p:cNvPr id="51" name="Rectangle 50"/>
          <p:cNvSpPr/>
          <p:nvPr userDrawn="1"/>
        </p:nvSpPr>
        <p:spPr>
          <a:xfrm>
            <a:off x="0" y="6258757"/>
            <a:ext cx="12192000" cy="517000"/>
          </a:xfrm>
          <a:prstGeom prst="rect">
            <a:avLst/>
          </a:prstGeom>
          <a:gradFill flip="none" rotWithShape="1">
            <a:gsLst>
              <a:gs pos="44000">
                <a:srgbClr val="98C93D"/>
              </a:gs>
              <a:gs pos="100000">
                <a:srgbClr val="64872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/>
          <p:cNvSpPr/>
          <p:nvPr userDrawn="1"/>
        </p:nvSpPr>
        <p:spPr>
          <a:xfrm rot="5400000" flipH="1">
            <a:off x="6073142" y="748018"/>
            <a:ext cx="45719" cy="12192000"/>
          </a:xfrm>
          <a:prstGeom prst="rect">
            <a:avLst/>
          </a:prstGeom>
          <a:gradFill flip="none" rotWithShape="1">
            <a:gsLst>
              <a:gs pos="100000">
                <a:srgbClr val="648725"/>
              </a:gs>
              <a:gs pos="37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/>
          <p:cNvSpPr/>
          <p:nvPr userDrawn="1"/>
        </p:nvSpPr>
        <p:spPr>
          <a:xfrm>
            <a:off x="11448581" y="6350000"/>
            <a:ext cx="434734" cy="3693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fld id="{BD1BBCF7-C2B2-490C-A676-4763179728A4}" type="slidenum">
              <a:rPr lang="en-US" b="1" smtClean="0">
                <a:solidFill>
                  <a:schemeClr val="bg1"/>
                </a:solidFill>
                <a:latin typeface="Century Gothic" panose="020B0502020202020204" pitchFamily="34" charset="0"/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83" b="-5834"/>
          <a:stretch/>
        </p:blipFill>
        <p:spPr>
          <a:xfrm>
            <a:off x="270627" y="6323378"/>
            <a:ext cx="1703316" cy="42576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28000"/>
              </a:prstClr>
            </a:outerShdw>
          </a:effectLst>
        </p:spPr>
      </p:pic>
      <p:sp>
        <p:nvSpPr>
          <p:cNvPr id="15" name="Content Placeholder 1"/>
          <p:cNvSpPr>
            <a:spLocks noGrp="1"/>
          </p:cNvSpPr>
          <p:nvPr>
            <p:ph idx="1" hasCustomPrompt="1"/>
          </p:nvPr>
        </p:nvSpPr>
        <p:spPr>
          <a:xfrm>
            <a:off x="270627" y="1087763"/>
            <a:ext cx="11580921" cy="4933476"/>
          </a:xfrm>
        </p:spPr>
        <p:txBody>
          <a:bodyPr/>
          <a:lstStyle>
            <a:lvl1pPr marL="233363" indent="-228600">
              <a:buFont typeface="Arial" panose="020B0604020202020204" pitchFamily="34" charset="0"/>
              <a:buChar char="•"/>
              <a:defRPr>
                <a:latin typeface="+mn-lt"/>
              </a:defRPr>
            </a:lvl1pPr>
            <a:lvl2pPr marL="685800" indent="-228600">
              <a:buFont typeface="Century Gothic" panose="020B0502020202020204" pitchFamily="34" charset="0"/>
              <a:buChar char="◦"/>
              <a:defRPr>
                <a:latin typeface="+mn-lt"/>
              </a:defRPr>
            </a:lvl2pPr>
            <a:lvl3pPr marL="1143000" indent="-228600">
              <a:buFont typeface="Century Gothic" panose="020B0502020202020204" pitchFamily="34" charset="0"/>
              <a:buChar char="―"/>
              <a:defRPr>
                <a:latin typeface="+mn-lt"/>
              </a:defRPr>
            </a:lvl3pPr>
            <a:lvl4pPr marL="1600200" indent="-228600">
              <a:buFont typeface="Century Gothic" panose="020B0502020202020204" pitchFamily="34" charset="0"/>
              <a:buChar char="▪"/>
              <a:defRPr>
                <a:latin typeface="+mn-lt"/>
              </a:defRPr>
            </a:lvl4pPr>
            <a:lvl5pPr marL="2057400" indent="-228600">
              <a:buFont typeface="Century Gothic" panose="020B0502020202020204" pitchFamily="34" charset="0"/>
              <a:buChar char="▫"/>
              <a:defRPr>
                <a:latin typeface="+mn-lt"/>
              </a:defRPr>
            </a:lvl5pPr>
          </a:lstStyle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9F79DB9F-9B01-4CE4-AB9E-E44563D1F373}"/>
              </a:ext>
            </a:extLst>
          </p:cNvPr>
          <p:cNvSpPr txBox="1">
            <a:spLocks/>
          </p:cNvSpPr>
          <p:nvPr userDrawn="1"/>
        </p:nvSpPr>
        <p:spPr>
          <a:xfrm>
            <a:off x="2100195" y="6449909"/>
            <a:ext cx="51332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Century Gothic" panose="020B0502020202020204" pitchFamily="34" charset="0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3326331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/>
          <p:cNvCxnSpPr/>
          <p:nvPr userDrawn="1"/>
        </p:nvCxnSpPr>
        <p:spPr>
          <a:xfrm>
            <a:off x="0" y="753618"/>
            <a:ext cx="9858375" cy="0"/>
          </a:xfrm>
          <a:prstGeom prst="line">
            <a:avLst/>
          </a:prstGeom>
          <a:ln w="22225">
            <a:solidFill>
              <a:srgbClr val="98C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270628" y="260268"/>
            <a:ext cx="11580921" cy="60098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Page Title 1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4113" y="260267"/>
            <a:ext cx="1917435" cy="762875"/>
          </a:xfrm>
          <a:prstGeom prst="rect">
            <a:avLst/>
          </a:prstGeom>
        </p:spPr>
      </p:pic>
      <p:sp>
        <p:nvSpPr>
          <p:cNvPr id="51" name="Rectangle 50"/>
          <p:cNvSpPr/>
          <p:nvPr userDrawn="1"/>
        </p:nvSpPr>
        <p:spPr>
          <a:xfrm>
            <a:off x="0" y="6258757"/>
            <a:ext cx="12192000" cy="517000"/>
          </a:xfrm>
          <a:prstGeom prst="rect">
            <a:avLst/>
          </a:prstGeom>
          <a:gradFill flip="none" rotWithShape="1">
            <a:gsLst>
              <a:gs pos="44000">
                <a:srgbClr val="98C93D"/>
              </a:gs>
              <a:gs pos="100000">
                <a:srgbClr val="64872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/>
          <p:cNvSpPr/>
          <p:nvPr userDrawn="1"/>
        </p:nvSpPr>
        <p:spPr>
          <a:xfrm rot="5400000" flipH="1">
            <a:off x="6073142" y="748018"/>
            <a:ext cx="45719" cy="12192000"/>
          </a:xfrm>
          <a:prstGeom prst="rect">
            <a:avLst/>
          </a:prstGeom>
          <a:gradFill flip="none" rotWithShape="1">
            <a:gsLst>
              <a:gs pos="100000">
                <a:srgbClr val="648725"/>
              </a:gs>
              <a:gs pos="37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/>
          <p:cNvSpPr/>
          <p:nvPr userDrawn="1"/>
        </p:nvSpPr>
        <p:spPr>
          <a:xfrm>
            <a:off x="11448581" y="6350000"/>
            <a:ext cx="434734" cy="3693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fld id="{BD1BBCF7-C2B2-490C-A676-4763179728A4}" type="slidenum">
              <a:rPr lang="en-US" b="1" smtClean="0">
                <a:solidFill>
                  <a:schemeClr val="bg1"/>
                </a:solidFill>
                <a:latin typeface="Century Gothic" panose="020B0502020202020204" pitchFamily="34" charset="0"/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83" b="-5834"/>
          <a:stretch/>
        </p:blipFill>
        <p:spPr>
          <a:xfrm>
            <a:off x="270627" y="6323378"/>
            <a:ext cx="1703316" cy="42576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28000"/>
              </a:prstClr>
            </a:outerShdw>
          </a:effectLst>
        </p:spPr>
      </p:pic>
      <p:sp>
        <p:nvSpPr>
          <p:cNvPr id="10" name="TextBox 1">
            <a:extLst>
              <a:ext uri="{FF2B5EF4-FFF2-40B4-BE49-F238E27FC236}">
                <a16:creationId xmlns:a16="http://schemas.microsoft.com/office/drawing/2014/main" id="{9F79DB9F-9B01-4CE4-AB9E-E44563D1F373}"/>
              </a:ext>
            </a:extLst>
          </p:cNvPr>
          <p:cNvSpPr txBox="1">
            <a:spLocks/>
          </p:cNvSpPr>
          <p:nvPr userDrawn="1"/>
        </p:nvSpPr>
        <p:spPr>
          <a:xfrm>
            <a:off x="2100195" y="6449909"/>
            <a:ext cx="51332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Century Gothic" panose="020B0502020202020204" pitchFamily="34" charset="0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2882401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/>
          <p:cNvCxnSpPr/>
          <p:nvPr userDrawn="1"/>
        </p:nvCxnSpPr>
        <p:spPr>
          <a:xfrm>
            <a:off x="0" y="753618"/>
            <a:ext cx="9858375" cy="0"/>
          </a:xfrm>
          <a:prstGeom prst="line">
            <a:avLst/>
          </a:prstGeom>
          <a:ln w="22225">
            <a:solidFill>
              <a:srgbClr val="98C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270628" y="260268"/>
            <a:ext cx="11580921" cy="60098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Page Title 1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270628" y="778081"/>
            <a:ext cx="11580921" cy="373510"/>
          </a:xfrm>
        </p:spPr>
        <p:txBody>
          <a:bodyPr>
            <a:noAutofit/>
          </a:bodyPr>
          <a:lstStyle>
            <a:lvl1pPr marL="0" indent="0" algn="l">
              <a:buNone/>
              <a:defRPr sz="1800" b="0">
                <a:solidFill>
                  <a:srgbClr val="373838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Master Page Subtitle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4113" y="260267"/>
            <a:ext cx="1917435" cy="762875"/>
          </a:xfrm>
          <a:prstGeom prst="rect">
            <a:avLst/>
          </a:prstGeom>
        </p:spPr>
      </p:pic>
      <p:sp>
        <p:nvSpPr>
          <p:cNvPr id="51" name="Rectangle 50"/>
          <p:cNvSpPr/>
          <p:nvPr userDrawn="1"/>
        </p:nvSpPr>
        <p:spPr>
          <a:xfrm>
            <a:off x="0" y="6258757"/>
            <a:ext cx="12192000" cy="517000"/>
          </a:xfrm>
          <a:prstGeom prst="rect">
            <a:avLst/>
          </a:prstGeom>
          <a:gradFill flip="none" rotWithShape="1">
            <a:gsLst>
              <a:gs pos="44000">
                <a:srgbClr val="98C93D"/>
              </a:gs>
              <a:gs pos="100000">
                <a:srgbClr val="64872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/>
          <p:cNvSpPr/>
          <p:nvPr userDrawn="1"/>
        </p:nvSpPr>
        <p:spPr>
          <a:xfrm rot="5400000" flipH="1">
            <a:off x="6073142" y="748018"/>
            <a:ext cx="45719" cy="12192000"/>
          </a:xfrm>
          <a:prstGeom prst="rect">
            <a:avLst/>
          </a:prstGeom>
          <a:gradFill flip="none" rotWithShape="1">
            <a:gsLst>
              <a:gs pos="100000">
                <a:srgbClr val="648725"/>
              </a:gs>
              <a:gs pos="37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/>
          <p:cNvSpPr/>
          <p:nvPr userDrawn="1"/>
        </p:nvSpPr>
        <p:spPr>
          <a:xfrm>
            <a:off x="11448581" y="6350000"/>
            <a:ext cx="434734" cy="3693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fld id="{BD1BBCF7-C2B2-490C-A676-4763179728A4}" type="slidenum">
              <a:rPr lang="en-US" b="1" smtClean="0">
                <a:solidFill>
                  <a:schemeClr val="bg1"/>
                </a:solidFill>
                <a:latin typeface="Century Gothic" panose="020B0502020202020204" pitchFamily="34" charset="0"/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83" b="-5834"/>
          <a:stretch/>
        </p:blipFill>
        <p:spPr>
          <a:xfrm>
            <a:off x="270627" y="6323378"/>
            <a:ext cx="1703316" cy="42576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28000"/>
              </a:prstClr>
            </a:outerShdw>
          </a:effectLst>
        </p:spPr>
      </p:pic>
      <p:sp>
        <p:nvSpPr>
          <p:cNvPr id="14" name="Content Placeholder 1"/>
          <p:cNvSpPr>
            <a:spLocks noGrp="1"/>
          </p:cNvSpPr>
          <p:nvPr>
            <p:ph idx="1" hasCustomPrompt="1"/>
          </p:nvPr>
        </p:nvSpPr>
        <p:spPr>
          <a:xfrm>
            <a:off x="270627" y="1449238"/>
            <a:ext cx="11580921" cy="4572002"/>
          </a:xfrm>
        </p:spPr>
        <p:txBody>
          <a:bodyPr/>
          <a:lstStyle>
            <a:lvl1pPr marL="233363" indent="-228600">
              <a:buFont typeface="Arial" panose="020B0604020202020204" pitchFamily="34" charset="0"/>
              <a:buChar char="•"/>
              <a:defRPr>
                <a:latin typeface="+mn-lt"/>
              </a:defRPr>
            </a:lvl1pPr>
            <a:lvl2pPr marL="685800" indent="-228600">
              <a:buFont typeface="Century Gothic" panose="020B0502020202020204" pitchFamily="34" charset="0"/>
              <a:buChar char="◦"/>
              <a:defRPr>
                <a:latin typeface="+mn-lt"/>
              </a:defRPr>
            </a:lvl2pPr>
            <a:lvl3pPr marL="1143000" indent="-228600">
              <a:buFont typeface="Century Gothic" panose="020B0502020202020204" pitchFamily="34" charset="0"/>
              <a:buChar char="―"/>
              <a:defRPr>
                <a:latin typeface="+mn-lt"/>
              </a:defRPr>
            </a:lvl3pPr>
            <a:lvl4pPr marL="1600200" indent="-228600">
              <a:buFont typeface="Century Gothic" panose="020B0502020202020204" pitchFamily="34" charset="0"/>
              <a:buChar char="▪"/>
              <a:defRPr>
                <a:latin typeface="+mn-lt"/>
              </a:defRPr>
            </a:lvl4pPr>
            <a:lvl5pPr marL="2057400" indent="-228600">
              <a:buFont typeface="Century Gothic" panose="020B0502020202020204" pitchFamily="34" charset="0"/>
              <a:buChar char="▫"/>
              <a:defRPr>
                <a:latin typeface="+mn-lt"/>
              </a:defRPr>
            </a:lvl5pPr>
          </a:lstStyle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Box 1">
            <a:extLst>
              <a:ext uri="{FF2B5EF4-FFF2-40B4-BE49-F238E27FC236}">
                <a16:creationId xmlns:a16="http://schemas.microsoft.com/office/drawing/2014/main" id="{B77CE695-0A2F-C942-9F1A-B6FA9F084CA0}"/>
              </a:ext>
            </a:extLst>
          </p:cNvPr>
          <p:cNvSpPr txBox="1">
            <a:spLocks/>
          </p:cNvSpPr>
          <p:nvPr userDrawn="1"/>
        </p:nvSpPr>
        <p:spPr>
          <a:xfrm>
            <a:off x="2100195" y="6449909"/>
            <a:ext cx="51332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Century Gothic" panose="020B0502020202020204" pitchFamily="34" charset="0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3883777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252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3655484" y="3526773"/>
            <a:ext cx="8227483" cy="492443"/>
          </a:xfrm>
        </p:spPr>
        <p:txBody>
          <a:bodyPr anchor="b"/>
          <a:lstStyle>
            <a:lvl1pPr algn="l" fontAlgn="t"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9325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655484" y="4049377"/>
            <a:ext cx="8227483" cy="366712"/>
          </a:xfrm>
          <a:ln w="12700"/>
        </p:spPr>
        <p:txBody>
          <a:bodyPr>
            <a:spAutoFit/>
          </a:bodyPr>
          <a:lstStyle>
            <a:lvl1pPr marL="0" indent="0">
              <a:buFontTx/>
              <a:buNone/>
              <a:defRPr sz="1800" b="0"/>
            </a:lvl1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Picture 11" descr="New_DOE_Logo_Color_Hi-Res_042808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7254" y="6026445"/>
            <a:ext cx="2528710" cy="635714"/>
          </a:xfrm>
          <a:prstGeom prst="rect">
            <a:avLst/>
          </a:prstGeom>
        </p:spPr>
      </p:pic>
      <p:pic>
        <p:nvPicPr>
          <p:cNvPr id="13" name="Picture 19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45369" y="6041893"/>
            <a:ext cx="1017884" cy="572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13" descr="West_Virginia_University_logo_svg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01318" y="6221732"/>
            <a:ext cx="1864013" cy="241391"/>
          </a:xfrm>
          <a:prstGeom prst="rect">
            <a:avLst/>
          </a:prstGeom>
        </p:spPr>
      </p:pic>
      <p:pic>
        <p:nvPicPr>
          <p:cNvPr id="15" name="Picture 14" descr="CMU logo.jpg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50431" y="6205830"/>
            <a:ext cx="1532631" cy="29239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2074" y="6049212"/>
            <a:ext cx="1447109" cy="557922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5" y="6065746"/>
            <a:ext cx="1439091" cy="5725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1372CD0-347B-4C7F-AD39-78B556A7DD8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61" y="6205829"/>
            <a:ext cx="1524000" cy="36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10841"/>
      </p:ext>
    </p:extLst>
  </p:cSld>
  <p:clrMapOvr>
    <a:masterClrMapping/>
  </p:clrMapOvr>
  <p:transition spd="med"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861237"/>
            <a:ext cx="10972801" cy="5307788"/>
          </a:xfrm>
        </p:spPr>
        <p:txBody>
          <a:bodyPr>
            <a:normAutofit/>
          </a:bodyPr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107555"/>
      </p:ext>
    </p:extLst>
  </p:cSld>
  <p:clrMapOvr>
    <a:masterClrMapping/>
  </p:clrMapOvr>
  <p:transition spd="med"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707886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49201775"/>
      </p:ext>
    </p:extLst>
  </p:cSld>
  <p:clrMapOvr>
    <a:masterClrMapping/>
  </p:clrMapOvr>
  <p:transition spd="med"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65202"/>
            <a:ext cx="5384800" cy="52038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82133"/>
            <a:ext cx="5384800" cy="5186892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1785"/>
      </p:ext>
    </p:extLst>
  </p:cSld>
  <p:clrMapOvr>
    <a:masterClrMapping/>
  </p:clrMapOvr>
  <p:transition spd="med"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1" cy="56533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950298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590059"/>
            <a:ext cx="5386917" cy="4672517"/>
          </a:xfrm>
        </p:spPr>
        <p:txBody>
          <a:bodyPr/>
          <a:lstStyle>
            <a:lvl1pPr>
              <a:defRPr sz="2400" b="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950298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1590060"/>
            <a:ext cx="5389033" cy="4661884"/>
          </a:xfrm>
        </p:spPr>
        <p:txBody>
          <a:bodyPr/>
          <a:lstStyle>
            <a:lvl1pPr>
              <a:defRPr sz="2400" b="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58606"/>
      </p:ext>
    </p:extLst>
  </p:cSld>
  <p:clrMapOvr>
    <a:masterClrMapping/>
  </p:clrMapOvr>
  <p:transition spd="med"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46760"/>
      </p:ext>
    </p:extLst>
  </p:cSld>
  <p:clrMapOvr>
    <a:masterClrMapping/>
  </p:clrMapOvr>
  <p:transition spd="med"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459507"/>
      </p:ext>
    </p:extLst>
  </p:cSld>
  <p:clrMapOvr>
    <a:masterClrMapping/>
  </p:clrMapOvr>
  <p:transition spd="med"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034990"/>
            <a:ext cx="4011084" cy="40011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269715"/>
      </p:ext>
    </p:extLst>
  </p:cSld>
  <p:clrMapOvr>
    <a:masterClrMapping/>
  </p:clrMapOvr>
  <p:transition spd="med" advClick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8" y="4967228"/>
            <a:ext cx="7315200" cy="40011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8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8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78143"/>
      </p:ext>
    </p:extLst>
  </p:cSld>
  <p:clrMapOvr>
    <a:masterClrMapping/>
  </p:clrMapOvr>
  <p:transition spd="med" advClick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105177"/>
      </p:ext>
    </p:extLst>
  </p:cSld>
  <p:clrMapOvr>
    <a:masterClrMapping/>
  </p:clrMapOvr>
  <p:transition spd="med" advClick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936070" y="182563"/>
            <a:ext cx="646331" cy="59864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82563"/>
            <a:ext cx="8026400" cy="59864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30476"/>
      </p:ext>
    </p:extLst>
  </p:cSld>
  <p:clrMapOvr>
    <a:masterClrMapping/>
  </p:clrMapOvr>
  <p:transition spd="med" advClick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861237"/>
            <a:ext cx="10972801" cy="53077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906"/>
      </p:ext>
    </p:extLst>
  </p:cSld>
  <p:clrMapOvr>
    <a:masterClrMapping/>
  </p:clrMapOvr>
  <p:transition spd="med" advClick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252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3655484" y="3526773"/>
            <a:ext cx="8227483" cy="492443"/>
          </a:xfrm>
        </p:spPr>
        <p:txBody>
          <a:bodyPr anchor="b"/>
          <a:lstStyle>
            <a:lvl1pPr algn="l" fontAlgn="t"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9325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655484" y="4049377"/>
            <a:ext cx="8227483" cy="366712"/>
          </a:xfrm>
          <a:prstGeom prst="rect">
            <a:avLst/>
          </a:prstGeom>
          <a:ln w="12700"/>
        </p:spPr>
        <p:txBody>
          <a:bodyPr>
            <a:spAutoFit/>
          </a:bodyPr>
          <a:lstStyle>
            <a:lvl1pPr marL="0" indent="0">
              <a:buFontTx/>
              <a:buNone/>
              <a:defRPr sz="1800" b="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AD3D4A-7E28-4220-9909-287F9B6EB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B67AC3-44BE-1249-A8B0-A1E33CC73C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440613"/>
      </p:ext>
    </p:extLst>
  </p:cSld>
  <p:clrMapOvr>
    <a:masterClrMapping/>
  </p:clrMapOvr>
  <p:transition spd="med" advClick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6C882809-195B-4C71-AF45-AF8015062DE4}" type="datetimeFigureOut">
              <a:rPr lang="en-US" smtClean="0"/>
              <a:pPr/>
              <a:t>03/17/26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BD1BBCF7-C2B2-490C-A676-4763179728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531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2" r:id="rId3"/>
    <p:sldLayoutId id="214748376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rgbClr val="373838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1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F0F5CB-0D47-4D83-91C4-D40A395E459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" t="7487" b="7207"/>
          <a:stretch/>
        </p:blipFill>
        <p:spPr>
          <a:xfrm>
            <a:off x="33250" y="6148938"/>
            <a:ext cx="1826051" cy="709062"/>
          </a:xfrm>
          <a:prstGeom prst="rect">
            <a:avLst/>
          </a:prstGeom>
        </p:spPr>
      </p:pic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82565"/>
            <a:ext cx="10972801" cy="54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0013"/>
            <a:ext cx="10972801" cy="4799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59682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transition spd="med" advClick="0"/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82565"/>
            <a:ext cx="10972801" cy="54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0013"/>
            <a:ext cx="10972801" cy="4799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9C87F91-BFE2-284C-8E09-D1E69062B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8573" y="6406817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D7C2DE-E3C8-B14E-B1DC-1B0DBDEF69C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32" y="6089972"/>
            <a:ext cx="1833097" cy="7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587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</p:sldLayoutIdLst>
  <p:transition spd="med" advClick="0"/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D2D2A-00DF-404A-9F1C-0471527E6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492" y="1007793"/>
            <a:ext cx="12192479" cy="3690815"/>
          </a:xfrm>
        </p:spPr>
        <p:txBody>
          <a:bodyPr anchor="ctr" anchorCtr="1">
            <a:noAutofit/>
          </a:bodyPr>
          <a:lstStyle/>
          <a:p>
            <a:r>
              <a:rPr lang="en-US" sz="4000" dirty="0"/>
              <a:t>Lithium Extraction with ePC-SAFT</a:t>
            </a:r>
            <a:br>
              <a:rPr lang="en-US" sz="40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02/13/2026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Tanner Polley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AC619-E783-F347-B0A1-562FEFE97F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3731" y="4869340"/>
            <a:ext cx="2950799" cy="115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105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A6D6-A8A1-B59D-D2D3-09C0A777B4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Lithium Demand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923147-A878-8F4B-964F-20D54107F6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29524" y="1649701"/>
            <a:ext cx="5993624" cy="30657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A71EFD-7B17-EABD-39DB-955282D24548}"/>
              </a:ext>
            </a:extLst>
          </p:cNvPr>
          <p:cNvSpPr txBox="1"/>
          <p:nvPr/>
        </p:nvSpPr>
        <p:spPr>
          <a:xfrm>
            <a:off x="381662" y="1058913"/>
            <a:ext cx="48423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 lithium demand is projected to exceed 2.5 million metric tons of lithium carbonate equivalent (LCE) by 2030, largely driven by electric vehicles and grid-scale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 supply chains rely heavily on South American brines and Australian spodumene, which face both geographic and processing constraints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Produced water from oil and gas wells can contain lithium concentrations ranging from &lt;10 mg/L to more than 400 mg/L, offering significant untapped potential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Valorizing produced water provides dual benefits: meeting lithium demand and offsetting disposal costs for oil and gas operators</a:t>
            </a:r>
          </a:p>
        </p:txBody>
      </p:sp>
    </p:spTree>
    <p:extLst>
      <p:ext uri="{BB962C8B-B14F-4D97-AF65-F5344CB8AC3E}">
        <p14:creationId xmlns:p14="http://schemas.microsoft.com/office/powerpoint/2010/main" val="862564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27BA4-7B0C-402C-E492-0EBC09194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Produced Water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FD0042-8A81-3A28-7EC9-1C250CD5EC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851386"/>
            <a:ext cx="5595859" cy="3212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BF6A79-E966-1752-12BC-A2D1590D3872}"/>
              </a:ext>
            </a:extLst>
          </p:cNvPr>
          <p:cNvSpPr txBox="1"/>
          <p:nvPr/>
        </p:nvSpPr>
        <p:spPr>
          <a:xfrm>
            <a:off x="500141" y="920621"/>
            <a:ext cx="5161188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Produced water is the largest waste stream of the oil and gas industry, with global volumes exceeding 250 billion barrels annually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Its composition varies by reservoir: shale gas waters often show lower lithium (&lt;50 mg/L), while certain oilfield brines in North America can exceed 200 mg/L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salinity levels (TDS often &gt;100,000 mg/L) and competing cations such as Na+, Ca2+, and Mg2+ complicate lithium separation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Targeting reservoirs with higher Li/Na ratios improves economic feasibility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Produced water varies widely in chemistry, meaning not all wells are good candidates. Identifying sweet spots with favorable lithium concentrations and lower interferences is critical to make extraction viable.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04346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F3094-2640-4121-54A9-A7C9697B5D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Solvent Extraction of Lithium?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DC1E2-A27A-9938-96C5-D391B392D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742079"/>
            <a:ext cx="5549727" cy="1854220"/>
          </a:xfrm>
        </p:spPr>
        <p:txBody>
          <a:bodyPr>
            <a:noAutofit/>
          </a:bodyPr>
          <a:lstStyle/>
          <a:p>
            <a:r>
              <a:rPr lang="en-US" sz="2000" dirty="0"/>
              <a:t>Strengths:</a:t>
            </a:r>
          </a:p>
          <a:p>
            <a:pPr lvl="1"/>
            <a:r>
              <a:rPr lang="en-US" sz="2000" dirty="0"/>
              <a:t>E</a:t>
            </a:r>
            <a:r>
              <a:rPr lang="en-US" sz="2000" b="0" dirty="0"/>
              <a:t>nables continuous processing </a:t>
            </a:r>
          </a:p>
          <a:p>
            <a:pPr lvl="1"/>
            <a:r>
              <a:rPr lang="en-US" sz="2000" dirty="0"/>
              <a:t>H</a:t>
            </a:r>
            <a:r>
              <a:rPr lang="en-US" sz="2000" b="0" dirty="0"/>
              <a:t>as high efficiency and selectivity </a:t>
            </a:r>
          </a:p>
          <a:p>
            <a:pPr lvl="1"/>
            <a:r>
              <a:rPr lang="en-US" sz="2000" dirty="0"/>
              <a:t>Can </a:t>
            </a:r>
            <a:r>
              <a:rPr lang="en-US" sz="2000" b="0" dirty="0"/>
              <a:t>operate under mild conditions</a:t>
            </a:r>
            <a:endParaRPr lang="en-US" sz="2000" dirty="0"/>
          </a:p>
          <a:p>
            <a:pPr lvl="1"/>
            <a:r>
              <a:rPr lang="en-US" sz="2000" dirty="0"/>
              <a:t>C</a:t>
            </a:r>
            <a:r>
              <a:rPr lang="en-US" sz="2000" b="0" dirty="0"/>
              <a:t>onsumes less energy</a:t>
            </a:r>
            <a:endParaRPr lang="en-US" sz="2000" dirty="0"/>
          </a:p>
          <a:p>
            <a:pPr lvl="1"/>
            <a:r>
              <a:rPr lang="en-US" sz="2000" b="0" dirty="0"/>
              <a:t>Doesn't require highly acidic environments like some alternatives.</a:t>
            </a:r>
          </a:p>
          <a:p>
            <a:endParaRPr lang="en-US" sz="2000" dirty="0"/>
          </a:p>
        </p:txBody>
      </p:sp>
      <p:pic>
        <p:nvPicPr>
          <p:cNvPr id="1026" name="Picture 2" descr="The recovery and separation of lithium by using solvent extraction methods  - ScienceDirect">
            <a:extLst>
              <a:ext uri="{FF2B5EF4-FFF2-40B4-BE49-F238E27FC236}">
                <a16:creationId xmlns:a16="http://schemas.microsoft.com/office/drawing/2014/main" id="{450A3C16-91DE-BA3B-1062-99AB52AA6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0178" y="2195990"/>
            <a:ext cx="5901069" cy="2630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EEB27DB0-1462-B34B-CA22-BF66A16359F2}"/>
              </a:ext>
            </a:extLst>
          </p:cNvPr>
          <p:cNvSpPr txBox="1">
            <a:spLocks/>
          </p:cNvSpPr>
          <p:nvPr/>
        </p:nvSpPr>
        <p:spPr>
          <a:xfrm>
            <a:off x="340451" y="4040006"/>
            <a:ext cx="5549727" cy="18542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3336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◦"/>
              <a:defRPr sz="24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―"/>
              <a:defRPr sz="20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▪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▫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Weaknesses:</a:t>
            </a:r>
          </a:p>
          <a:p>
            <a:pPr lvl="1"/>
            <a:r>
              <a:rPr lang="en-US" sz="2000" dirty="0"/>
              <a:t>Complicated Preparation</a:t>
            </a:r>
          </a:p>
          <a:p>
            <a:pPr lvl="1"/>
            <a:r>
              <a:rPr lang="en-US" sz="2000" dirty="0"/>
              <a:t>Necessary Pretreatment for Divalent Cations</a:t>
            </a:r>
          </a:p>
          <a:p>
            <a:pPr lvl="1"/>
            <a:r>
              <a:rPr lang="en-US" sz="2000" dirty="0"/>
              <a:t>Potentially larger capital cost</a:t>
            </a:r>
          </a:p>
          <a:p>
            <a:pPr lvl="1"/>
            <a:r>
              <a:rPr lang="en-US" sz="2000" dirty="0"/>
              <a:t>High waste production</a:t>
            </a:r>
          </a:p>
          <a:p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11FF55-D3D6-45DA-0674-351409E300B0}"/>
              </a:ext>
            </a:extLst>
          </p:cNvPr>
          <p:cNvSpPr txBox="1"/>
          <p:nvPr/>
        </p:nvSpPr>
        <p:spPr>
          <a:xfrm>
            <a:off x="340451" y="861248"/>
            <a:ext cx="956541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Almousa [1] ranked solvent extraction highest among DLE technologies in terms of scalability, cost, and selectivity after a comprehensive review of relevant technologies.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19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FBE6-88E7-967F-A5D4-9C2FB22DEC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ePC-SAFT?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7D4C9-4796-7125-726F-4AB111C69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087763"/>
            <a:ext cx="5369042" cy="4933476"/>
          </a:xfrm>
        </p:spPr>
        <p:txBody>
          <a:bodyPr>
            <a:normAutofit lnSpcReduction="10000"/>
          </a:bodyPr>
          <a:lstStyle/>
          <a:p>
            <a:r>
              <a:rPr lang="en-US" sz="2000" b="0" dirty="0"/>
              <a:t>ePC-SAFT (electrolyte Perturbed-Chain Statistical Associating Fluid Theory) is a thermodynamic model that predicts phase behavior in complex electrolyte systems, including ionic liquids.</a:t>
            </a:r>
          </a:p>
          <a:p>
            <a:r>
              <a:rPr lang="en-US" sz="2000" b="0" dirty="0"/>
              <a:t>It accounts for multiple molecular interactions—including dispersion forces, association (like hydrogen bonding), and electrostatics (via Debye–</a:t>
            </a:r>
            <a:r>
              <a:rPr lang="en-US" sz="2000" b="0" dirty="0" err="1"/>
              <a:t>Hückel</a:t>
            </a:r>
            <a:r>
              <a:rPr lang="en-US" sz="2000" b="0" dirty="0"/>
              <a:t> and Born terms)—giving it wide applicability.</a:t>
            </a:r>
          </a:p>
          <a:p>
            <a:r>
              <a:rPr lang="en-US" sz="2000" b="0" dirty="0"/>
              <a:t>Unlike simpler models, ePC-SAFT is built on a molecular foundation, allowing more accurate prediction of phenomena like ion-pairing, phase separation, and solubility in multicomponent mixtures. It also contains only 2 tunable parameters which is much lower than other existing models for electrolyte solutions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6CF12-5D7E-F774-85EA-B489CD596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9670" y="1660977"/>
            <a:ext cx="5946586" cy="86753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D32A70E-8F84-D0E4-B859-47AD36D45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7504" y="3004310"/>
            <a:ext cx="5648533" cy="2044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959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D687-2FDD-73CB-8DAE-FE7DE4A38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ePC-SAFT Model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4271F-CF91-A385-9BBB-D781A720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310701"/>
            <a:ext cx="5711718" cy="4933476"/>
          </a:xfrm>
        </p:spPr>
        <p:txBody>
          <a:bodyPr>
            <a:normAutofit/>
          </a:bodyPr>
          <a:lstStyle/>
          <a:p>
            <a:r>
              <a:rPr lang="en-US" sz="2000" dirty="0"/>
              <a:t>2005: First added the Debye </a:t>
            </a:r>
            <a:r>
              <a:rPr lang="en-US" sz="2000" dirty="0" err="1"/>
              <a:t>Huckel</a:t>
            </a:r>
            <a:r>
              <a:rPr lang="en-US" sz="2000" dirty="0"/>
              <a:t> Term to the PC-SAFT </a:t>
            </a:r>
            <a:r>
              <a:rPr lang="en-US" sz="2000" dirty="0" err="1"/>
              <a:t>EoS</a:t>
            </a:r>
            <a:endParaRPr lang="en-US" sz="2000" dirty="0"/>
          </a:p>
          <a:p>
            <a:r>
              <a:rPr lang="en-US" sz="2000" dirty="0"/>
              <a:t>2008: Retuned pure component parameters</a:t>
            </a:r>
          </a:p>
          <a:p>
            <a:r>
              <a:rPr lang="en-US" sz="2000" dirty="0"/>
              <a:t>2014: Added binary interaction parameters for ion-ion and ion-solvent interactions</a:t>
            </a:r>
          </a:p>
          <a:p>
            <a:r>
              <a:rPr lang="en-US" sz="2000" dirty="0"/>
              <a:t>2020: Added concentration dependent dielectric constant and born term</a:t>
            </a:r>
          </a:p>
          <a:p>
            <a:r>
              <a:rPr lang="en-US" sz="2000" dirty="0"/>
              <a:t>2021: Adds a potential </a:t>
            </a:r>
            <a:r>
              <a:rPr lang="en-US" sz="2000" dirty="0" err="1"/>
              <a:t>Bjeruum</a:t>
            </a:r>
            <a:r>
              <a:rPr lang="en-US" sz="2000" dirty="0"/>
              <a:t> treatment option</a:t>
            </a:r>
          </a:p>
          <a:p>
            <a:r>
              <a:rPr lang="en-US" sz="2000" dirty="0"/>
              <a:t>2025: Adds the SSM+DS version of the born term (solvation shell model + dielectric saturation)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8253E-13AA-A068-05CF-EA0DC4AFD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10701"/>
            <a:ext cx="5711718" cy="396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674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1078A-43EB-A658-DE12-2E667DD588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Debye </a:t>
            </a:r>
            <a:r>
              <a:rPr lang="en-US" dirty="0" err="1"/>
              <a:t>Huckel</a:t>
            </a:r>
            <a:r>
              <a:rPr lang="en-US" dirty="0"/>
              <a:t> vs Born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B1993-F82C-A0F7-322F-3377F217B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310399"/>
            <a:ext cx="5661045" cy="31741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Debye–</a:t>
            </a:r>
            <a:r>
              <a:rPr lang="en-US" dirty="0" err="1"/>
              <a:t>Hückel</a:t>
            </a:r>
            <a:r>
              <a:rPr lang="en-US" dirty="0"/>
              <a:t> (DH):</a:t>
            </a:r>
            <a:r>
              <a:rPr lang="en-US" b="0" dirty="0"/>
              <a:t> long-range ion–ion electrostatics and screening; primary driver of MIAC trends vs salt level</a:t>
            </a:r>
          </a:p>
          <a:p>
            <a:r>
              <a:rPr lang="en-US" dirty="0"/>
              <a:t>Born:</a:t>
            </a:r>
            <a:r>
              <a:rPr lang="en-US" b="0" dirty="0"/>
              <a:t> ion–solvent solvation free energy; becomes critical when moving from water to lower-permittivity solvents</a:t>
            </a:r>
          </a:p>
          <a:p>
            <a:r>
              <a:rPr lang="en-US" b="0" dirty="0"/>
              <a:t>Separating DH and Born makes debugging physical: ion–ion mismatch vs ion–solvent mismatch</a:t>
            </a:r>
          </a:p>
          <a:p>
            <a:r>
              <a:rPr lang="en-US" b="0" dirty="0"/>
              <a:t>Born can be small in mostly-aqueous cases, but it is not optional for mixed-solvent transfer predictions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232DBF-5F44-A7C8-C03C-D1E477B1B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3682" y="840847"/>
            <a:ext cx="5228488" cy="36436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1B5840-F083-8A9F-C9F3-5792AA6A4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769" y="4708118"/>
            <a:ext cx="4061662" cy="93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869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D95E7-FE71-AC01-433E-7965DBED8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Relative Permittivity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EF21A-4036-D166-69B0-F58B5DC4C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7" y="1087763"/>
            <a:ext cx="5287335" cy="4933476"/>
          </a:xfrm>
        </p:spPr>
        <p:txBody>
          <a:bodyPr>
            <a:normAutofit fontScale="92500" lnSpcReduction="10000"/>
          </a:bodyPr>
          <a:lstStyle/>
          <a:p>
            <a:r>
              <a:rPr lang="en-US" b="0" dirty="0"/>
              <a:t>Permittivity sets the “strength” of electrostatics in both DH and Born terms</a:t>
            </a:r>
          </a:p>
          <a:p>
            <a:r>
              <a:rPr lang="en-US" b="0" dirty="0"/>
              <a:t>Constant permittivity can work locally, but it breaks when solvent composition or salt loading shifts ε meaningfully</a:t>
            </a:r>
          </a:p>
          <a:p>
            <a:r>
              <a:rPr lang="en-US" b="0" dirty="0"/>
              <a:t>The 2020 approach treats ε as composition-dependent and includes the needed derivatives for chemical potentials</a:t>
            </a:r>
          </a:p>
          <a:p>
            <a:r>
              <a:rPr lang="en-US" b="0" dirty="0"/>
              <a:t>This is the key ingredient for credible water → alcohol/organic electrolyte predictions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BACF06-AB8A-B035-519F-5A76A8A42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2590" y="1526694"/>
            <a:ext cx="4976989" cy="391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622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E3E5-16FE-EA47-F898-A144CB00B2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C++ to Python based ePC-SAFT Package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13C86-D42D-32EF-8902-BC5E6869C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Side-by-side model presets (2005 / 2008 / 2014 / 2020) to reproduce literature assumptions consistently</a:t>
            </a:r>
          </a:p>
          <a:p>
            <a:r>
              <a:rPr lang="en-US" b="0" dirty="0"/>
              <a:t>A dielectric “engine” with selectable mixing rules and analytic derivatives (with safe numerical fallback)</a:t>
            </a:r>
          </a:p>
          <a:p>
            <a:r>
              <a:rPr lang="en-US" b="0" dirty="0"/>
              <a:t>Altered Born contribution options to match 2020-style composition-dependent ε behavior</a:t>
            </a:r>
          </a:p>
          <a:p>
            <a:r>
              <a:rPr lang="en-US" b="0" dirty="0"/>
              <a:t>Guardrails: SSM+DS-style Born solvation shell + dielectric saturation is not part of the current baseline workflow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531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A7511-60F0-752C-6C6A-0F7D5CA080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Ionic Activity Coefficient Fits - Water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23578B-8033-F0E2-3FC6-9B1BC3637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1" y="861248"/>
            <a:ext cx="3875315" cy="2691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B23DD3-E954-3762-4B01-DB9B9014F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234" y="826096"/>
            <a:ext cx="4077788" cy="28317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B160F8-36F9-6BE2-6A32-7748BCBA6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3763" y="896400"/>
            <a:ext cx="3875313" cy="26911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42E0E5-2664-B2A5-EE71-D06E65660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111" y="3519799"/>
            <a:ext cx="3668050" cy="25472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71393D-AD83-AA2A-BF39-8B786A98D4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507" y="3519798"/>
            <a:ext cx="3668050" cy="254725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CA33D2-84FD-5DE8-7D8D-8B2731A188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619" y="3519798"/>
            <a:ext cx="3587931" cy="249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207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1F1D1-2D8B-B801-54AE-4775560D74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Ionic Activity Coefficient Fits - Methanol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A4DFC5-695E-67A5-CA83-2991E096A7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628" y="1861456"/>
            <a:ext cx="4015197" cy="27883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09543D-86C3-A3A8-5EE6-C48F3D5BE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825" y="1979573"/>
            <a:ext cx="3675017" cy="25520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A4E9A4-73F0-8643-985B-08339039D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183" y="1979573"/>
            <a:ext cx="3479946" cy="241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0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779A4-5521-512F-CBB9-E08CDDC33D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Ionic Activity Coefficient Fits - Ethanol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8FE5E0-E1CE-7F20-C9E6-5F9298AA6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628" y="2132806"/>
            <a:ext cx="3733039" cy="25923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5AD8B6-DBA4-F139-4A8F-AEA71781B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35" y="2132806"/>
            <a:ext cx="3573996" cy="24819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8669CF-37F4-76C0-0872-808DE90CED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268" y="2307770"/>
            <a:ext cx="3322047" cy="230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883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74C41-4701-B083-038F-3F2D174B66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the 2020 Model Is the Best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86134-E00A-050D-A8F1-9B8D51935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Best balance today: strong aqueous grounding plus credible transfer toward non-aqueous/mixed-solvent systems</a:t>
            </a:r>
          </a:p>
          <a:p>
            <a:r>
              <a:rPr lang="en-US" b="0" dirty="0"/>
              <a:t>Keeps the parameter philosophy clean: mostly pure-component/ion parameters with a consistent </a:t>
            </a:r>
            <a:r>
              <a:rPr lang="en-US" b="0" dirty="0" err="1"/>
              <a:t>kij</a:t>
            </a:r>
            <a:r>
              <a:rPr lang="en-US" b="0" dirty="0"/>
              <a:t> strategy</a:t>
            </a:r>
          </a:p>
          <a:p>
            <a:r>
              <a:rPr lang="en-US" b="0" dirty="0"/>
              <a:t>Avoids adding extra empirical knobs unless the data demands it (better for scale-up and extrapolation)</a:t>
            </a:r>
          </a:p>
          <a:p>
            <a:r>
              <a:rPr lang="en-US" b="0" dirty="0"/>
              <a:t>Sets the right foundation for LLE coupling because electrostatics respond correctly to solvent composition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141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1DC96-A808-9DDB-2C3E-3725BAC5CE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LLE for Solvent Extraction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873517-2D46-44C0-D820-49693AA2B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4084" y="1059996"/>
            <a:ext cx="5591809" cy="493395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76D6862-A560-ADF1-B815-6D14A58C1BB7}"/>
              </a:ext>
            </a:extLst>
          </p:cNvPr>
          <p:cNvSpPr txBox="1">
            <a:spLocks/>
          </p:cNvSpPr>
          <p:nvPr/>
        </p:nvSpPr>
        <p:spPr>
          <a:xfrm>
            <a:off x="270628" y="1310701"/>
            <a:ext cx="3256343" cy="49334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3336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◦"/>
              <a:defRPr sz="24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―"/>
              <a:defRPr sz="20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▪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▫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Inside the PC-SAFT package is a two liquid phase equilibrium algorithm that can take a generic feed composition and determine the existent of two liquid phases and then produce the equilibrium compositions of both the aqueous phase and organic phase</a:t>
            </a:r>
          </a:p>
          <a:p>
            <a:r>
              <a:rPr lang="en-US" sz="2000" dirty="0"/>
              <a:t>It showcases the possibility of a transfer for an ion from one phase to another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33EFB80-80CB-FDAB-2B18-B3EF80CCA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971" y="1486388"/>
            <a:ext cx="2897113" cy="388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22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ADBC-9EF0-7760-B5D6-6F01B7E6E6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Currently in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C40D6-94D2-2EA0-6B75-83CCA7C1F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7" y="1087763"/>
            <a:ext cx="4667133" cy="4933476"/>
          </a:xfrm>
        </p:spPr>
        <p:txBody>
          <a:bodyPr/>
          <a:lstStyle/>
          <a:p>
            <a:r>
              <a:rPr lang="en-US" dirty="0"/>
              <a:t>Demonstration of Lithium extraction from produced water  </a:t>
            </a:r>
          </a:p>
          <a:p>
            <a:r>
              <a:rPr lang="en-US" dirty="0"/>
              <a:t>Parameters for the specific solvents will be fitted</a:t>
            </a:r>
          </a:p>
          <a:p>
            <a:r>
              <a:rPr lang="en-US" dirty="0"/>
              <a:t>Determination of which </a:t>
            </a:r>
            <a:r>
              <a:rPr lang="en-US" dirty="0" err="1"/>
              <a:t>epc</a:t>
            </a:r>
            <a:r>
              <a:rPr lang="en-US" dirty="0"/>
              <a:t>-saft model to use to for this specific set of solvents and ions</a:t>
            </a:r>
          </a:p>
        </p:txBody>
      </p:sp>
      <p:pic>
        <p:nvPicPr>
          <p:cNvPr id="1026" name="Picture 2" descr="Stage-3 efficiency plot">
            <a:extLst>
              <a:ext uri="{FF2B5EF4-FFF2-40B4-BE49-F238E27FC236}">
                <a16:creationId xmlns:a16="http://schemas.microsoft.com/office/drawing/2014/main" id="{1A84962E-C529-C810-5F47-6197982D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655737"/>
            <a:ext cx="4481839" cy="284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3674B9-A643-1AA2-7D86-9CF70C1C9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661" y="1087763"/>
            <a:ext cx="3439005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970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373838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ster Cover Title.pptx" id="{EB5E8C3F-626B-4B4B-ACCF-A49F74929750}" vid="{91F68650-2EA8-49F3-A5C8-A6A4201928CA}"/>
    </a:ext>
  </a:extLst>
</a:theme>
</file>

<file path=ppt/theme/theme2.xml><?xml version="1.0" encoding="utf-8"?>
<a:theme xmlns:a="http://schemas.openxmlformats.org/drawingml/2006/main" name="1_IDA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TL Si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rgbClr val="0070C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27432" tIns="27432" rIns="27432" bIns="27432" numCol="1" rtlCol="0" anchor="ctr" anchorCtr="1" compatLnSpc="1">
        <a:prstTxWarp prst="textNoShape">
          <a:avLst/>
        </a:prstTxWarp>
      </a:bodyPr>
      <a:lstStyle>
        <a:defPPr marR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19050" cap="flat" cmpd="sng" algn="ctr">
          <a:solidFill>
            <a:schemeClr val="tx1"/>
          </a:solidFill>
          <a:prstDash val="solid"/>
          <a:round/>
          <a:headEnd type="arrow"/>
          <a:tailEnd type="arrow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sz="1200" i="0" dirty="0" smtClean="0">
            <a:solidFill>
              <a:schemeClr val="tx1"/>
            </a:solidFill>
          </a:defRPr>
        </a:defPPr>
      </a:lstStyle>
    </a:txDef>
  </a:objectDefaults>
  <a:extraClrSchemeLst>
    <a:extraClrScheme>
      <a:clrScheme name="NETL Si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E7"/>
        </a:accent6>
        <a:hlink>
          <a:srgbClr val="008000"/>
        </a:hlink>
        <a:folHlink>
          <a:srgbClr val="99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IDA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TL Si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rgbClr val="0070C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27432" tIns="27432" rIns="27432" bIns="27432" numCol="1" rtlCol="0" anchor="ctr" anchorCtr="1" compatLnSpc="1">
        <a:prstTxWarp prst="textNoShape">
          <a:avLst/>
        </a:prstTxWarp>
      </a:bodyPr>
      <a:lstStyle>
        <a:defPPr marR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19050" cap="flat" cmpd="sng" algn="ctr">
          <a:solidFill>
            <a:schemeClr val="tx1"/>
          </a:solidFill>
          <a:prstDash val="solid"/>
          <a:round/>
          <a:headEnd type="arrow"/>
          <a:tailEnd type="arrow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sz="1200" i="0" dirty="0" smtClean="0">
            <a:solidFill>
              <a:schemeClr val="tx1"/>
            </a:solidFill>
          </a:defRPr>
        </a:defPPr>
      </a:lstStyle>
    </a:txDef>
  </a:objectDefaults>
  <a:extraClrSchemeLst>
    <a:extraClrScheme>
      <a:clrScheme name="NETL Si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E7"/>
        </a:accent6>
        <a:hlink>
          <a:srgbClr val="008000"/>
        </a:hlink>
        <a:folHlink>
          <a:srgbClr val="99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F5DB6BD2039A4DA9828CDD52828D22" ma:contentTypeVersion="1" ma:contentTypeDescription="Create a new document." ma:contentTypeScope="" ma:versionID="02a2b74d7520ef9dea84c66f9fb70d32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d55f72726b9dae1b96ae9030b26e0e6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0DB2A8-98EE-4CA5-9B57-4F5F6858EA16}">
  <ds:schemaRefs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A5341B3-53F6-453C-9EF7-531D8A95F6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A22840F2-5BB0-45AB-A8DF-9A97CD9488E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NETL PowerPoint Presentation Template</Template>
  <TotalTime>81870</TotalTime>
  <Words>1117</Words>
  <Application>Microsoft Office PowerPoint</Application>
  <PresentationFormat>Widescreen</PresentationFormat>
  <Paragraphs>74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Century Gothic</vt:lpstr>
      <vt:lpstr>Office Theme</vt:lpstr>
      <vt:lpstr>1_IDAES</vt:lpstr>
      <vt:lpstr>2_IDAES</vt:lpstr>
      <vt:lpstr>Lithium Extraction with ePC-SAFT    02/13/2026   Tanner Polley</vt:lpstr>
      <vt:lpstr>Lithium Demand</vt:lpstr>
      <vt:lpstr>Produced Water</vt:lpstr>
      <vt:lpstr>Why Solvent Extraction of Lithium?</vt:lpstr>
      <vt:lpstr>What is ePC-SAFT?</vt:lpstr>
      <vt:lpstr>ePC-SAFT Model Timeline</vt:lpstr>
      <vt:lpstr>Debye Huckel vs Born</vt:lpstr>
      <vt:lpstr>Relative Permittivity</vt:lpstr>
      <vt:lpstr>C++ to Python based ePC-SAFT Package Improvements</vt:lpstr>
      <vt:lpstr>Mean Ionic Activity Coefficient Fits - Water</vt:lpstr>
      <vt:lpstr>Mean Ionic Activity Coefficient Fits - Methanol</vt:lpstr>
      <vt:lpstr>Mean Ionic Activity Coefficient Fits - Ethanol</vt:lpstr>
      <vt:lpstr>Why the 2020 Model Is the Best Baseline</vt:lpstr>
      <vt:lpstr>LLE for Solvent Extraction</vt:lpstr>
      <vt:lpstr>Currently in Progress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Cover Title</dc:title>
  <dc:creator>Gerdes, Kristin J.</dc:creator>
  <cp:lastModifiedBy>Tanner Polley</cp:lastModifiedBy>
  <cp:revision>1290</cp:revision>
  <cp:lastPrinted>2017-09-22T14:04:48Z</cp:lastPrinted>
  <dcterms:created xsi:type="dcterms:W3CDTF">2017-01-19T16:36:42Z</dcterms:created>
  <dcterms:modified xsi:type="dcterms:W3CDTF">2026-03-17T15:37:39Z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0x01010081F5DB6BD2039A4DA9828CDD52828D22</vt:lpwstr>
  </property>
  <property fmtid="{D5CDD505-2E9C-101B-9397-08002B2CF9AE}" pid="3" name="MSIP_Label_6a247341-4757-443f-8545-88b6b969d13e_Enabled">
    <vt:lpwstr>True</vt:lpwstr>
  </property>
  <property fmtid="{D5CDD505-2E9C-101B-9397-08002B2CF9AE}" pid="4" name="MSIP_Label_6a247341-4757-443f-8545-88b6b969d13e_SiteId">
    <vt:lpwstr>94e92035-30e4-4e5d-ba5b-df8b041a8555</vt:lpwstr>
  </property>
  <property fmtid="{D5CDD505-2E9C-101B-9397-08002B2CF9AE}" pid="5" name="MSIP_Label_6a247341-4757-443f-8545-88b6b969d13e_SetDate">
    <vt:lpwstr>2023-09-06T22:32:52Z</vt:lpwstr>
  </property>
  <property fmtid="{D5CDD505-2E9C-101B-9397-08002B2CF9AE}" pid="6" name="MSIP_Label_6a247341-4757-443f-8545-88b6b969d13e_Name">
    <vt:lpwstr>Restricted</vt:lpwstr>
  </property>
  <property fmtid="{D5CDD505-2E9C-101B-9397-08002B2CF9AE}" pid="7" name="MSIP_Label_6a247341-4757-443f-8545-88b6b969d13e_ActionId">
    <vt:lpwstr>299a4785-5fc8-4858-877a-8db09950ce93</vt:lpwstr>
  </property>
  <property fmtid="{D5CDD505-2E9C-101B-9397-08002B2CF9AE}" pid="8" name="MSIP_Label_6a247341-4757-443f-8545-88b6b969d13e_Removed">
    <vt:lpwstr>False</vt:lpwstr>
  </property>
  <property fmtid="{D5CDD505-2E9C-101B-9397-08002B2CF9AE}" pid="9" name="MSIP_Label_6a247341-4757-443f-8545-88b6b969d13e_Extended_MSFT_Method">
    <vt:lpwstr>Standard</vt:lpwstr>
  </property>
  <property fmtid="{D5CDD505-2E9C-101B-9397-08002B2CF9AE}" pid="10" name="Sensitivity">
    <vt:lpwstr>Restricted</vt:lpwstr>
  </property>
</Properties>
</file>